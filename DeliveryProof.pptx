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 </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1446D2FB-E8E5-43EE-9544-A09451CABA1F}"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ceHolder 1"/>
          <p:cNvSpPr>
            <a:spLocks noGrp="1" noRot="1" noChangeAspect="1"/>
          </p:cNvSpPr>
          <p:nvPr>
            <p:ph type="sldImg"/>
          </p:nvPr>
        </p:nvSpPr>
        <p:spPr>
          <a:xfrm>
            <a:off x="685800" y="1143000"/>
            <a:ext cx="5486400" cy="3086100"/>
          </a:xfrm>
          <a:prstGeom prst="rect">
            <a:avLst/>
          </a:prstGeom>
          <a:ln w="0">
            <a:noFill/>
          </a:ln>
        </p:spPr>
      </p:sp>
      <p:sp>
        <p:nvSpPr>
          <p:cNvPr id="2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03"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0EB015A-B7CE-4D10-AC2E-8B9CBC13C70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noRot="1" noChangeAspect="1"/>
          </p:cNvSpPr>
          <p:nvPr>
            <p:ph type="sldImg"/>
          </p:nvPr>
        </p:nvSpPr>
        <p:spPr>
          <a:xfrm>
            <a:off x="685800" y="1143000"/>
            <a:ext cx="5486040" cy="3085920"/>
          </a:xfrm>
          <a:prstGeom prst="rect">
            <a:avLst/>
          </a:prstGeom>
          <a:ln w="0">
            <a:noFill/>
          </a:ln>
        </p:spPr>
      </p:sp>
      <p:sp>
        <p:nvSpPr>
          <p:cNvPr id="2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06"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7C4872B-8C29-4EFD-9B43-9D701046E872}"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PlaceHolder 1"/>
          <p:cNvSpPr>
            <a:spLocks noGrp="1" noRot="1" noChangeAspect="1"/>
          </p:cNvSpPr>
          <p:nvPr>
            <p:ph type="sldImg"/>
          </p:nvPr>
        </p:nvSpPr>
        <p:spPr>
          <a:xfrm>
            <a:off x="685800" y="1143000"/>
            <a:ext cx="5486040" cy="3085920"/>
          </a:xfrm>
          <a:prstGeom prst="rect">
            <a:avLst/>
          </a:prstGeom>
          <a:ln w="0">
            <a:noFill/>
          </a:ln>
        </p:spPr>
      </p:sp>
      <p:sp>
        <p:nvSpPr>
          <p:cNvPr id="2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09"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5560D7E-429F-476E-BD6D-8DE3619E4498}"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PlaceHolder 1"/>
          <p:cNvSpPr>
            <a:spLocks noGrp="1" noRot="1" noChangeAspect="1"/>
          </p:cNvSpPr>
          <p:nvPr>
            <p:ph type="sldImg"/>
          </p:nvPr>
        </p:nvSpPr>
        <p:spPr>
          <a:xfrm>
            <a:off x="685800" y="1143000"/>
            <a:ext cx="5486040" cy="3085920"/>
          </a:xfrm>
          <a:prstGeom prst="rect">
            <a:avLst/>
          </a:prstGeom>
          <a:ln w="0">
            <a:noFill/>
          </a:ln>
        </p:spPr>
      </p:sp>
      <p:sp>
        <p:nvSpPr>
          <p:cNvPr id="2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12"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B16061E-06F6-46F7-B2C6-A148EB8748D2}"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PlaceHolder 1"/>
          <p:cNvSpPr>
            <a:spLocks noGrp="1" noRot="1" noChangeAspect="1"/>
          </p:cNvSpPr>
          <p:nvPr>
            <p:ph type="sldImg"/>
          </p:nvPr>
        </p:nvSpPr>
        <p:spPr>
          <a:xfrm>
            <a:off x="685800" y="1143000"/>
            <a:ext cx="5486040" cy="3085920"/>
          </a:xfrm>
          <a:prstGeom prst="rect">
            <a:avLst/>
          </a:prstGeom>
          <a:ln w="0">
            <a:noFill/>
          </a:ln>
        </p:spPr>
      </p:sp>
      <p:sp>
        <p:nvSpPr>
          <p:cNvPr id="2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15"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285D804-0EE6-4072-8206-0F182CF79746}"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PlaceHolder 1"/>
          <p:cNvSpPr>
            <a:spLocks noGrp="1" noRot="1" noChangeAspect="1"/>
          </p:cNvSpPr>
          <p:nvPr>
            <p:ph type="sldImg"/>
          </p:nvPr>
        </p:nvSpPr>
        <p:spPr>
          <a:xfrm>
            <a:off x="685800" y="1143000"/>
            <a:ext cx="5486040" cy="3085920"/>
          </a:xfrm>
          <a:prstGeom prst="rect">
            <a:avLst/>
          </a:prstGeom>
          <a:ln w="0">
            <a:noFill/>
          </a:ln>
        </p:spPr>
      </p:sp>
      <p:sp>
        <p:nvSpPr>
          <p:cNvPr id="2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18"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1A5628A-3EA8-4E31-8341-98D7F4C708DB}"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laceHolder 1"/>
          <p:cNvSpPr>
            <a:spLocks noGrp="1" noRot="1" noChangeAspect="1"/>
          </p:cNvSpPr>
          <p:nvPr>
            <p:ph type="sldImg"/>
          </p:nvPr>
        </p:nvSpPr>
        <p:spPr>
          <a:xfrm>
            <a:off x="685800" y="1143000"/>
            <a:ext cx="5486040" cy="3085920"/>
          </a:xfrm>
          <a:prstGeom prst="rect">
            <a:avLst/>
          </a:prstGeom>
          <a:ln w="0">
            <a:noFill/>
          </a:ln>
        </p:spPr>
      </p:sp>
      <p:sp>
        <p:nvSpPr>
          <p:cNvPr id="2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21"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EF99E97-01DB-4911-9DE0-2E4128B5383E}"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
          <p:cNvSpPr>
            <a:spLocks noGrp="1" noRot="1" noChangeAspect="1"/>
          </p:cNvSpPr>
          <p:nvPr>
            <p:ph type="sldImg"/>
          </p:nvPr>
        </p:nvSpPr>
        <p:spPr>
          <a:xfrm>
            <a:off x="685800" y="1143000"/>
            <a:ext cx="5486040" cy="3085920"/>
          </a:xfrm>
          <a:prstGeom prst="rect">
            <a:avLst/>
          </a:prstGeom>
          <a:ln w="0">
            <a:noFill/>
          </a:ln>
        </p:spPr>
      </p:sp>
      <p:sp>
        <p:nvSpPr>
          <p:cNvPr id="2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24"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14CD3B-BCFC-4924-A31B-C1B067D710B8}"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PlaceHolder 1"/>
          <p:cNvSpPr>
            <a:spLocks noGrp="1" noRot="1" noChangeAspect="1"/>
          </p:cNvSpPr>
          <p:nvPr>
            <p:ph type="sldImg"/>
          </p:nvPr>
        </p:nvSpPr>
        <p:spPr>
          <a:xfrm>
            <a:off x="685800" y="1143000"/>
            <a:ext cx="5486040" cy="3085920"/>
          </a:xfrm>
          <a:prstGeom prst="rect">
            <a:avLst/>
          </a:prstGeom>
          <a:ln w="0">
            <a:noFill/>
          </a:ln>
        </p:spPr>
      </p:sp>
      <p:sp>
        <p:nvSpPr>
          <p:cNvPr id="2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27"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8B8491-9F62-41A1-A91C-571E286D3504}"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PlaceHolder 1"/>
          <p:cNvSpPr>
            <a:spLocks noGrp="1" noRot="1" noChangeAspect="1"/>
          </p:cNvSpPr>
          <p:nvPr>
            <p:ph type="sldImg"/>
          </p:nvPr>
        </p:nvSpPr>
        <p:spPr>
          <a:xfrm>
            <a:off x="685800" y="1143000"/>
            <a:ext cx="5486040" cy="3085920"/>
          </a:xfrm>
          <a:prstGeom prst="rect">
            <a:avLst/>
          </a:prstGeom>
          <a:ln w="0">
            <a:noFill/>
          </a:ln>
        </p:spPr>
      </p:sp>
      <p:sp>
        <p:nvSpPr>
          <p:cNvPr id="2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30"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F57CB8-6715-4DE5-A67C-0F14B974F7B8}"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8" name="Shape 0"/>
          <p:cNvSpPr/>
          <p:nvPr/>
        </p:nvSpPr>
        <p:spPr>
          <a:xfrm>
            <a:off x="0" y="0"/>
            <a:ext cx="12188520" cy="6857640"/>
          </a:xfrm>
          <a:prstGeom prst="rect">
            <a:avLst/>
          </a:prstGeom>
          <a:solidFill>
            <a:srgbClr val="2129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 name="Shape 1"/>
          <p:cNvSpPr/>
          <p:nvPr/>
        </p:nvSpPr>
        <p:spPr>
          <a:xfrm>
            <a:off x="9692640" y="1005840"/>
            <a:ext cx="127800" cy="127800"/>
          </a:xfrm>
          <a:prstGeom prst="ellipse">
            <a:avLst/>
          </a:prstGeom>
          <a:solidFill>
            <a:srgbClr val="3FC1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 name="Shape 2"/>
          <p:cNvSpPr/>
          <p:nvPr/>
        </p:nvSpPr>
        <p:spPr>
          <a:xfrm>
            <a:off x="10607040" y="1554480"/>
            <a:ext cx="127800" cy="127800"/>
          </a:xfrm>
          <a:prstGeom prst="ellipse">
            <a:avLst/>
          </a:prstGeom>
          <a:solidFill>
            <a:srgbClr val="3FC1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 name="Shape 3"/>
          <p:cNvSpPr/>
          <p:nvPr/>
        </p:nvSpPr>
        <p:spPr>
          <a:xfrm>
            <a:off x="9966960" y="2286000"/>
            <a:ext cx="127800" cy="127800"/>
          </a:xfrm>
          <a:prstGeom prst="ellipse">
            <a:avLst/>
          </a:prstGeom>
          <a:solidFill>
            <a:srgbClr val="3FC1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 name="Shape 4"/>
          <p:cNvSpPr/>
          <p:nvPr/>
        </p:nvSpPr>
        <p:spPr>
          <a:xfrm>
            <a:off x="9756360" y="1069560"/>
            <a:ext cx="914400" cy="548640"/>
          </a:xfrm>
          <a:prstGeom prst="line">
            <a:avLst/>
          </a:prstGeom>
          <a:ln w="19050">
            <a:solidFill>
              <a:srgbClr val="1C7293"/>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3" name="Shape 5"/>
          <p:cNvSpPr/>
          <p:nvPr/>
        </p:nvSpPr>
        <p:spPr>
          <a:xfrm flipH="1">
            <a:off x="10030680" y="1618200"/>
            <a:ext cx="640080" cy="731520"/>
          </a:xfrm>
          <a:prstGeom prst="line">
            <a:avLst/>
          </a:prstGeom>
          <a:ln w="19050">
            <a:solidFill>
              <a:srgbClr val="1C7293"/>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4" name="Text 6"/>
          <p:cNvSpPr/>
          <p:nvPr/>
        </p:nvSpPr>
        <p:spPr>
          <a:xfrm>
            <a:off x="822960" y="2331720"/>
            <a:ext cx="914364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400" b="1" u="none" strike="noStrike">
                <a:solidFill>
                  <a:srgbClr val="FFFFFF"/>
                </a:solidFill>
                <a:effectLst/>
                <a:uFillTx/>
                <a:latin typeface="Cambria"/>
                <a:ea typeface="Cambria"/>
              </a:rPr>
              <a:t>DELIVERYPROOF</a:t>
            </a:r>
            <a:endParaRPr lang="en-US" sz="5400" b="0" u="none" strike="noStrike">
              <a:solidFill>
                <a:srgbClr val="FFFFFF"/>
              </a:solidFill>
              <a:effectLst/>
              <a:uFillTx/>
              <a:latin typeface="Arial"/>
            </a:endParaRPr>
          </a:p>
        </p:txBody>
      </p:sp>
      <p:sp>
        <p:nvSpPr>
          <p:cNvPr id="15" name="Text 7"/>
          <p:cNvSpPr/>
          <p:nvPr/>
        </p:nvSpPr>
        <p:spPr>
          <a:xfrm>
            <a:off x="822960" y="3383280"/>
            <a:ext cx="86864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u="none" strike="noStrike">
                <a:solidFill>
                  <a:srgbClr val="CADCFC"/>
                </a:solidFill>
                <a:effectLst/>
                <a:uFillTx/>
                <a:latin typeface="Calibri"/>
                <a:ea typeface="Calibri"/>
              </a:rPr>
              <a:t>Verifiable delivery proof — from verified access to completed delivery.</a:t>
            </a:r>
            <a:endParaRPr lang="en-US" sz="1800" b="0" u="none" strike="noStrike">
              <a:solidFill>
                <a:srgbClr val="FFFFFF"/>
              </a:solidFill>
              <a:effectLst/>
              <a:uFillTx/>
              <a:latin typeface="Arial"/>
            </a:endParaRPr>
          </a:p>
        </p:txBody>
      </p:sp>
      <p:sp>
        <p:nvSpPr>
          <p:cNvPr id="20" name="Text Presenter"/>
          <p:cNvSpPr/>
          <p:nvPr/>
        </p:nvSpPr>
        <p:spPr>
          <a:xfrm>
            <a:off x="822960" y="4820000"/>
            <a:ext cx="8686440" cy="40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3FC1A0"/>
                </a:solidFill>
                <a:effectLst/>
                <a:uFillTx/>
                <a:latin typeface="Calibri"/>
                <a:ea typeface="Calibri"/>
              </a:rPr>
              <a:t>Ayush — Solo Builder</a:t>
            </a:r>
            <a:endParaRPr lang="en-US" sz="1400" b="1" u="none" strike="noStrike">
              <a:solidFill>
                <a:srgbClr val="FFFFFF"/>
              </a:solidFill>
              <a:effectLst/>
              <a:uFillTx/>
              <a:latin typeface="Arial"/>
            </a:endParaRPr>
          </a:p>
        </p:txBody>
      </p:sp>
      <p:sp>
        <p:nvSpPr>
          <p:cNvPr id="16" name="Shape 8"/>
          <p:cNvSpPr/>
          <p:nvPr/>
        </p:nvSpPr>
        <p:spPr>
          <a:xfrm>
            <a:off x="822960" y="4160520"/>
            <a:ext cx="1005840" cy="360"/>
          </a:xfrm>
          <a:prstGeom prst="line">
            <a:avLst/>
          </a:prstGeom>
          <a:ln w="38100">
            <a:solidFill>
              <a:srgbClr val="3FC1A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17" name="Text 9"/>
          <p:cNvSpPr/>
          <p:nvPr/>
        </p:nvSpPr>
        <p:spPr>
          <a:xfrm>
            <a:off x="822960" y="434340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u="none" strike="noStrike" dirty="0">
                <a:solidFill>
                  <a:srgbClr val="8FA3C9"/>
                </a:solidFill>
                <a:effectLst/>
                <a:uFillTx/>
                <a:latin typeface="Calibri"/>
                <a:ea typeface="Calibri"/>
              </a:rPr>
              <a:t>AI Builders Hackathon  •  </a:t>
            </a:r>
            <a:endParaRPr lang="en-US" sz="1300" b="0" u="none" strike="noStrike" dirty="0">
              <a:solidFill>
                <a:srgbClr val="FFFFFF"/>
              </a:solidFill>
              <a:effectLst/>
              <a:uFillTx/>
              <a:latin typeface="Arial"/>
            </a:endParaRPr>
          </a:p>
        </p:txBody>
      </p:sp>
      <p:sp>
        <p:nvSpPr>
          <p:cNvPr id="18" name="Text 10"/>
          <p:cNvSpPr/>
          <p:nvPr/>
        </p:nvSpPr>
        <p:spPr>
          <a:xfrm>
            <a:off x="11521440" y="6446520"/>
            <a:ext cx="548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u="none" strike="noStrike">
                <a:solidFill>
                  <a:srgbClr val="5B6B77"/>
                </a:solidFill>
                <a:effectLst/>
                <a:uFillTx/>
                <a:latin typeface="Calibri"/>
                <a:ea typeface="Calibri"/>
              </a:rPr>
              <a:t>01</a:t>
            </a:r>
            <a:endParaRPr lang="en-US" sz="100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xt 0"/>
          <p:cNvSpPr/>
          <p:nvPr/>
        </p:nvSpPr>
        <p:spPr>
          <a:xfrm>
            <a:off x="548640" y="36576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3FC1A0"/>
                </a:solidFill>
                <a:effectLst/>
                <a:uFillTx/>
                <a:latin typeface="Calibri"/>
                <a:ea typeface="Calibri"/>
              </a:rPr>
              <a:t>THE PROBLEM</a:t>
            </a:r>
            <a:endParaRPr lang="en-US" sz="1200" b="0" u="none" strike="noStrike">
              <a:solidFill>
                <a:srgbClr val="000000"/>
              </a:solidFill>
              <a:effectLst/>
              <a:uFillTx/>
              <a:latin typeface="Arial"/>
            </a:endParaRPr>
          </a:p>
        </p:txBody>
      </p:sp>
      <p:sp>
        <p:nvSpPr>
          <p:cNvPr id="20" name="Text 1"/>
          <p:cNvSpPr/>
          <p:nvPr/>
        </p:nvSpPr>
        <p:spPr>
          <a:xfrm>
            <a:off x="548640" y="68580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B2430"/>
                </a:solidFill>
                <a:effectLst/>
                <a:uFillTx/>
                <a:latin typeface="Cambria"/>
                <a:ea typeface="Cambria"/>
              </a:rPr>
              <a:t>Companies and drivers need a reliable way to manage deliveries and prove what happened</a:t>
            </a:r>
            <a:endParaRPr lang="en-US" sz="3200" b="0" u="none" strike="noStrike">
              <a:solidFill>
                <a:srgbClr val="000000"/>
              </a:solidFill>
              <a:effectLst/>
              <a:uFillTx/>
              <a:latin typeface="Arial"/>
            </a:endParaRPr>
          </a:p>
        </p:txBody>
      </p:sp>
      <p:sp>
        <p:nvSpPr>
          <p:cNvPr id="21" name="Shape 2"/>
          <p:cNvSpPr/>
          <p:nvPr/>
        </p:nvSpPr>
        <p:spPr>
          <a:xfrm>
            <a:off x="548640" y="1737360"/>
            <a:ext cx="5577480" cy="4205880"/>
          </a:xfrm>
          <a:prstGeom prst="roundRect">
            <a:avLst>
              <a:gd name="adj" fmla="val 2174"/>
            </a:avLst>
          </a:prstGeom>
          <a:solidFill>
            <a:srgbClr val="F2F6F8"/>
          </a:solidFill>
          <a:ln w="0">
            <a:noFill/>
          </a:ln>
          <a:effectLst>
            <a:outerShdw blurRad="101520" dist="381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 name="Text 3"/>
          <p:cNvSpPr/>
          <p:nvPr/>
        </p:nvSpPr>
        <p:spPr>
          <a:xfrm>
            <a:off x="868680" y="1965960"/>
            <a:ext cx="49374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065A82"/>
                </a:solidFill>
                <a:effectLst/>
                <a:uFillTx/>
                <a:latin typeface="Calibri"/>
                <a:ea typeface="Calibri"/>
              </a:rPr>
              <a:t>A DISPUTED DELIVERY</a:t>
            </a:r>
            <a:endParaRPr lang="en-US" sz="1200" b="0" u="none" strike="noStrike">
              <a:solidFill>
                <a:srgbClr val="000000"/>
              </a:solidFill>
              <a:effectLst/>
              <a:uFillTx/>
              <a:latin typeface="Arial"/>
            </a:endParaRPr>
          </a:p>
        </p:txBody>
      </p:sp>
      <p:sp>
        <p:nvSpPr>
          <p:cNvPr id="23" name="Text 4"/>
          <p:cNvSpPr/>
          <p:nvPr/>
        </p:nvSpPr>
        <p:spPr>
          <a:xfrm>
            <a:off x="868680" y="2377440"/>
            <a:ext cx="493740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US" sz="1500" b="0" u="none" strike="noStrike">
                <a:solidFill>
                  <a:srgbClr val="1B2430"/>
                </a:solidFill>
                <a:effectLst/>
                <a:uFillTx/>
                <a:latin typeface="Calibri"/>
                <a:ea typeface="Calibri"/>
              </a:rPr>
              <a:t>A delivery can be completed, but later questions can still arise: Was it claimed by the right driver? Was it completed? Was it received?</a:t>
            </a:r>
            <a:endParaRPr lang="en-US" sz="1500" b="0" u="none" strike="noStrike">
              <a:solidFill>
                <a:srgbClr val="000000"/>
              </a:solidFill>
              <a:effectLst/>
              <a:uFillTx/>
              <a:latin typeface="Arial"/>
            </a:endParaRPr>
          </a:p>
          <a:p>
            <a:endParaRPr lang="en-US" sz="1500" b="0" u="none" strike="noStrike">
              <a:solidFill>
                <a:srgbClr val="000000"/>
              </a:solidFill>
              <a:effectLst/>
              <a:uFillTx/>
              <a:latin typeface="Arial"/>
            </a:endParaRPr>
          </a:p>
          <a:p>
            <a:pPr defTabSz="914400">
              <a:lnSpc>
                <a:spcPts val="2401"/>
              </a:lnSpc>
              <a:tabLst>
                <a:tab pos="0" algn="l"/>
              </a:tabLst>
            </a:pPr>
            <a:r>
              <a:t>Without a shared record, people rely on calls, memory, and paperwork instead of a clear delivery history.</a:t>
            </a:r>
            <a:endParaRPr lang="en-US" sz="1500" b="0" u="none" strike="noStrike">
              <a:solidFill>
                <a:srgbClr val="000000"/>
              </a:solidFill>
              <a:effectLst/>
              <a:uFillTx/>
              <a:latin typeface="Arial"/>
            </a:endParaRPr>
          </a:p>
          <a:p>
            <a:pPr defTabSz="914400">
              <a:lnSpc>
                <a:spcPts val="2401"/>
              </a:lnSpc>
              <a:tabLst>
                <a:tab pos="0" algn="l"/>
              </a:tabLst>
            </a:pPr>
            <a:endParaRPr lang="en-US" sz="1500" b="0" u="none" strike="noStrike">
              <a:solidFill>
                <a:srgbClr val="000000"/>
              </a:solidFill>
              <a:effectLst/>
              <a:uFillTx/>
              <a:latin typeface="Arial"/>
            </a:endParaRPr>
          </a:p>
        </p:txBody>
      </p:sp>
      <p:sp>
        <p:nvSpPr>
          <p:cNvPr id="24" name="Shape 5"/>
          <p:cNvSpPr/>
          <p:nvPr/>
        </p:nvSpPr>
        <p:spPr>
          <a:xfrm>
            <a:off x="6492240" y="1783080"/>
            <a:ext cx="502560" cy="502560"/>
          </a:xfrm>
          <a:prstGeom prst="ellipse">
            <a:avLst/>
          </a:prstGeom>
          <a:solidFill>
            <a:srgbClr val="065A8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 name="Text 6"/>
          <p:cNvSpPr/>
          <p:nvPr/>
        </p:nvSpPr>
        <p:spPr>
          <a:xfrm>
            <a:off x="6492240" y="1783080"/>
            <a:ext cx="5025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FFFFFF"/>
                </a:solidFill>
                <a:effectLst/>
                <a:uFillTx/>
                <a:latin typeface="Calibri"/>
                <a:ea typeface="Calibri"/>
              </a:rPr>
              <a:t>!</a:t>
            </a:r>
            <a:endParaRPr lang="en-US" sz="1650" b="0" u="none" strike="noStrike">
              <a:solidFill>
                <a:srgbClr val="000000"/>
              </a:solidFill>
              <a:effectLst/>
              <a:uFillTx/>
              <a:latin typeface="Arial"/>
            </a:endParaRPr>
          </a:p>
        </p:txBody>
      </p:sp>
      <p:sp>
        <p:nvSpPr>
          <p:cNvPr id="26" name="Text 7"/>
          <p:cNvSpPr/>
          <p:nvPr/>
        </p:nvSpPr>
        <p:spPr>
          <a:xfrm>
            <a:off x="7223760" y="1755720"/>
            <a:ext cx="42973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2430"/>
                </a:solidFill>
                <a:effectLst/>
                <a:uFillTx/>
                <a:latin typeface="Cambria"/>
                <a:ea typeface="Cambria"/>
              </a:rPr>
              <a:t>No shared delivery record</a:t>
            </a:r>
            <a:endParaRPr lang="en-US" sz="1600" b="0" u="none" strike="noStrike">
              <a:solidFill>
                <a:srgbClr val="000000"/>
              </a:solidFill>
              <a:effectLst/>
              <a:uFillTx/>
              <a:latin typeface="Arial"/>
            </a:endParaRPr>
          </a:p>
        </p:txBody>
      </p:sp>
      <p:sp>
        <p:nvSpPr>
          <p:cNvPr id="27" name="Text 8"/>
          <p:cNvSpPr/>
          <p:nvPr/>
        </p:nvSpPr>
        <p:spPr>
          <a:xfrm>
            <a:off x="7223760" y="2130480"/>
            <a:ext cx="42973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99"/>
              </a:lnSpc>
              <a:tabLst>
                <a:tab pos="0" algn="l"/>
              </a:tabLst>
            </a:pPr>
            <a:r>
              <a:rPr lang="en-US" sz="1250" b="0" u="none" strike="noStrike">
                <a:solidFill>
                  <a:srgbClr val="5B6B77"/>
                </a:solidFill>
                <a:effectLst/>
                <a:uFillTx/>
                <a:latin typeface="Calibri"/>
                <a:ea typeface="Calibri"/>
              </a:rPr>
              <a:t>Without one clear record, the company, driver, and trip-specific receiver can have different views of what happened.</a:t>
            </a:r>
            <a:endParaRPr lang="en-US" sz="1250" b="0" u="none" strike="noStrike">
              <a:solidFill>
                <a:srgbClr val="000000"/>
              </a:solidFill>
              <a:effectLst/>
              <a:uFillTx/>
              <a:latin typeface="Arial"/>
            </a:endParaRPr>
          </a:p>
        </p:txBody>
      </p:sp>
      <p:sp>
        <p:nvSpPr>
          <p:cNvPr id="28" name="Shape 9"/>
          <p:cNvSpPr/>
          <p:nvPr/>
        </p:nvSpPr>
        <p:spPr>
          <a:xfrm>
            <a:off x="6492240" y="3154680"/>
            <a:ext cx="502560" cy="502560"/>
          </a:xfrm>
          <a:prstGeom prst="ellipse">
            <a:avLst/>
          </a:prstGeom>
          <a:solidFill>
            <a:srgbClr val="065A8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 name="Text 10"/>
          <p:cNvSpPr/>
          <p:nvPr/>
        </p:nvSpPr>
        <p:spPr>
          <a:xfrm>
            <a:off x="6492240" y="3154680"/>
            <a:ext cx="5025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FFFFFF"/>
                </a:solidFill>
                <a:effectLst/>
                <a:uFillTx/>
                <a:latin typeface="Calibri"/>
                <a:ea typeface="Calibri"/>
              </a:rPr>
              <a:t>?</a:t>
            </a:r>
            <a:endParaRPr lang="en-US" sz="1650" b="0" u="none" strike="noStrike">
              <a:solidFill>
                <a:srgbClr val="000000"/>
              </a:solidFill>
              <a:effectLst/>
              <a:uFillTx/>
              <a:latin typeface="Arial"/>
            </a:endParaRPr>
          </a:p>
        </p:txBody>
      </p:sp>
      <p:sp>
        <p:nvSpPr>
          <p:cNvPr id="30" name="Text 11"/>
          <p:cNvSpPr/>
          <p:nvPr/>
        </p:nvSpPr>
        <p:spPr>
          <a:xfrm>
            <a:off x="7223760" y="3127320"/>
            <a:ext cx="42973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2430"/>
                </a:solidFill>
                <a:effectLst/>
                <a:uFillTx/>
                <a:latin typeface="Cambria"/>
                <a:ea typeface="Cambria"/>
              </a:rPr>
              <a:t>Slow verification</a:t>
            </a:r>
            <a:endParaRPr lang="en-US" sz="1600" b="0" u="none" strike="noStrike">
              <a:solidFill>
                <a:srgbClr val="000000"/>
              </a:solidFill>
              <a:effectLst/>
              <a:uFillTx/>
              <a:latin typeface="Arial"/>
            </a:endParaRPr>
          </a:p>
        </p:txBody>
      </p:sp>
      <p:sp>
        <p:nvSpPr>
          <p:cNvPr id="31" name="Text 12"/>
          <p:cNvSpPr/>
          <p:nvPr/>
        </p:nvSpPr>
        <p:spPr>
          <a:xfrm>
            <a:off x="7223760" y="3502080"/>
            <a:ext cx="42973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99"/>
              </a:lnSpc>
              <a:tabLst>
                <a:tab pos="0" algn="l"/>
              </a:tabLst>
            </a:pPr>
            <a:r>
              <a:rPr lang="en-US" sz="1250" b="0" u="none" strike="noStrike">
                <a:solidFill>
                  <a:srgbClr val="5B6B77"/>
                </a:solidFill>
                <a:effectLst/>
                <a:uFillTx/>
                <a:latin typeface="Calibri"/>
                <a:ea typeface="Calibri"/>
              </a:rPr>
              <a:t>Delivery questions take time to resolve without a clear, timestamped record.</a:t>
            </a:r>
            <a:endParaRPr lang="en-US" sz="1250" b="0" u="none" strike="noStrike">
              <a:solidFill>
                <a:srgbClr val="000000"/>
              </a:solidFill>
              <a:effectLst/>
              <a:uFillTx/>
              <a:latin typeface="Arial"/>
            </a:endParaRPr>
          </a:p>
        </p:txBody>
      </p:sp>
      <p:sp>
        <p:nvSpPr>
          <p:cNvPr id="32" name="Shape 13"/>
          <p:cNvSpPr/>
          <p:nvPr/>
        </p:nvSpPr>
        <p:spPr>
          <a:xfrm>
            <a:off x="6492240" y="4526280"/>
            <a:ext cx="502560" cy="502560"/>
          </a:xfrm>
          <a:prstGeom prst="ellipse">
            <a:avLst/>
          </a:prstGeom>
          <a:solidFill>
            <a:srgbClr val="065A8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 name="Text 14"/>
          <p:cNvSpPr/>
          <p:nvPr/>
        </p:nvSpPr>
        <p:spPr>
          <a:xfrm>
            <a:off x="6492240" y="4526280"/>
            <a:ext cx="5025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FFFFFF"/>
                </a:solidFill>
                <a:effectLst/>
                <a:uFillTx/>
                <a:latin typeface="Calibri"/>
                <a:ea typeface="Calibri"/>
              </a:rPr>
              <a:t>○</a:t>
            </a:r>
            <a:endParaRPr lang="en-US" sz="1650" b="0" u="none" strike="noStrike">
              <a:solidFill>
                <a:srgbClr val="000000"/>
              </a:solidFill>
              <a:effectLst/>
              <a:uFillTx/>
              <a:latin typeface="Arial"/>
            </a:endParaRPr>
          </a:p>
        </p:txBody>
      </p:sp>
      <p:sp>
        <p:nvSpPr>
          <p:cNvPr id="34" name="Text 15"/>
          <p:cNvSpPr/>
          <p:nvPr/>
        </p:nvSpPr>
        <p:spPr>
          <a:xfrm>
            <a:off x="7223760" y="4498920"/>
            <a:ext cx="42973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2430"/>
                </a:solidFill>
                <a:effectLst/>
                <a:uFillTx/>
                <a:latin typeface="Cambria"/>
                <a:ea typeface="Cambria"/>
              </a:rPr>
              <a:t>No independent identity check</a:t>
            </a:r>
            <a:endParaRPr lang="en-US" sz="1600" b="0" u="none" strike="noStrike">
              <a:solidFill>
                <a:srgbClr val="000000"/>
              </a:solidFill>
              <a:effectLst/>
              <a:uFillTx/>
              <a:latin typeface="Arial"/>
            </a:endParaRPr>
          </a:p>
        </p:txBody>
      </p:sp>
      <p:sp>
        <p:nvSpPr>
          <p:cNvPr id="35" name="Text 16"/>
          <p:cNvSpPr/>
          <p:nvPr/>
        </p:nvSpPr>
        <p:spPr>
          <a:xfrm>
            <a:off x="7223760" y="4873680"/>
            <a:ext cx="42973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99"/>
              </a:lnSpc>
              <a:tabLst>
                <a:tab pos="0" algn="l"/>
              </a:tabLst>
            </a:pPr>
            <a:r>
              <a:rPr lang="en-US" sz="1250" b="0" u="none" strike="noStrike">
                <a:solidFill>
                  <a:srgbClr val="5B6B77"/>
                </a:solidFill>
                <a:effectLst/>
                <a:uFillTx/>
                <a:latin typeface="Calibri"/>
                <a:ea typeface="Calibri"/>
              </a:rPr>
              <a:t>A separate Reviewer verifies driver/company identity and eligibility from submitted evidence before access is allowed.</a:t>
            </a:r>
            <a:endParaRPr lang="en-US" sz="1250" b="0" u="none" strike="noStrike">
              <a:solidFill>
                <a:srgbClr val="000000"/>
              </a:solidFill>
              <a:effectLst/>
              <a:uFillTx/>
              <a:latin typeface="Arial"/>
            </a:endParaRPr>
          </a:p>
        </p:txBody>
      </p:sp>
      <p:sp>
        <p:nvSpPr>
          <p:cNvPr id="36" name="Text 17"/>
          <p:cNvSpPr/>
          <p:nvPr/>
        </p:nvSpPr>
        <p:spPr>
          <a:xfrm>
            <a:off x="11521440" y="6446520"/>
            <a:ext cx="548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u="none" strike="noStrike">
                <a:solidFill>
                  <a:srgbClr val="5B6B77"/>
                </a:solidFill>
                <a:effectLst/>
                <a:uFillTx/>
                <a:latin typeface="Calibri"/>
                <a:ea typeface="Calibri"/>
              </a:rPr>
              <a:t>02</a:t>
            </a:r>
            <a:endParaRPr lang="en-US" sz="10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Text 0"/>
          <p:cNvSpPr/>
          <p:nvPr/>
        </p:nvSpPr>
        <p:spPr>
          <a:xfrm>
            <a:off x="548640" y="36576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3FC1A0"/>
                </a:solidFill>
                <a:effectLst/>
                <a:uFillTx/>
                <a:latin typeface="Calibri"/>
                <a:ea typeface="Calibri"/>
              </a:rPr>
              <a:t>THE SOLUTION</a:t>
            </a:r>
            <a:endParaRPr lang="en-US" sz="1200" b="0" u="none" strike="noStrike">
              <a:solidFill>
                <a:srgbClr val="000000"/>
              </a:solidFill>
              <a:effectLst/>
              <a:uFillTx/>
              <a:latin typeface="Arial"/>
            </a:endParaRPr>
          </a:p>
        </p:txBody>
      </p:sp>
      <p:sp>
        <p:nvSpPr>
          <p:cNvPr id="38" name="Text 1"/>
          <p:cNvSpPr/>
          <p:nvPr/>
        </p:nvSpPr>
        <p:spPr>
          <a:xfrm>
            <a:off x="548640" y="68580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B2430"/>
                </a:solidFill>
                <a:effectLst/>
                <a:uFillTx/>
                <a:latin typeface="Cambria"/>
                <a:ea typeface="Cambria"/>
              </a:rPr>
              <a:t>One system, three portals, one connected delivery workflow</a:t>
            </a:r>
            <a:endParaRPr lang="en-US" sz="3200" b="0" u="none" strike="noStrike">
              <a:solidFill>
                <a:srgbClr val="000000"/>
              </a:solidFill>
              <a:effectLst/>
              <a:uFillTx/>
              <a:latin typeface="Arial"/>
            </a:endParaRPr>
          </a:p>
        </p:txBody>
      </p:sp>
      <p:sp>
        <p:nvSpPr>
          <p:cNvPr id="39" name="Text 2"/>
          <p:cNvSpPr/>
          <p:nvPr/>
        </p:nvSpPr>
        <p:spPr>
          <a:xfrm>
            <a:off x="548640" y="16916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2200"/>
              </a:lnSpc>
              <a:tabLst>
                <a:tab pos="0" algn="l"/>
              </a:tabLst>
            </a:pPr>
            <a:r>
              <a:rPr lang="en-US" sz="1500" b="0" u="none" strike="noStrike">
                <a:solidFill>
                  <a:srgbClr val="1B2430"/>
                </a:solidFill>
                <a:effectLst/>
                <a:uFillTx/>
                <a:latin typeface="Calibri"/>
                <a:ea typeface="Calibri"/>
              </a:rPr>
              <a:t>DeliveryProof connects companies and drivers in one delivery workflow. For each trip, the creating company becomes the sender and selects another company as the receiver. The receiver must accept before the trip is published to drivers; a Reviewer verifies eligibility first, while AI summarizes completed evidence.</a:t>
            </a:r>
            <a:endParaRPr lang="en-US" sz="1500" b="0" u="none" strike="noStrike">
              <a:solidFill>
                <a:srgbClr val="000000"/>
              </a:solidFill>
              <a:effectLst/>
              <a:uFillTx/>
              <a:latin typeface="Arial"/>
            </a:endParaRPr>
          </a:p>
        </p:txBody>
      </p:sp>
      <p:sp>
        <p:nvSpPr>
          <p:cNvPr id="40" name="Shape 3"/>
          <p:cNvSpPr/>
          <p:nvPr/>
        </p:nvSpPr>
        <p:spPr>
          <a:xfrm>
            <a:off x="548640" y="2743200"/>
            <a:ext cx="3611520" cy="3200040"/>
          </a:xfrm>
          <a:prstGeom prst="roundRect">
            <a:avLst>
              <a:gd name="adj" fmla="val 2286"/>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 name="Shape 4"/>
          <p:cNvSpPr/>
          <p:nvPr/>
        </p:nvSpPr>
        <p:spPr>
          <a:xfrm>
            <a:off x="868680" y="3017520"/>
            <a:ext cx="502560" cy="502560"/>
          </a:xfrm>
          <a:prstGeom prst="ellipse">
            <a:avLst/>
          </a:prstGeom>
          <a:solidFill>
            <a:srgbClr val="065A8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 name="Text 5"/>
          <p:cNvSpPr/>
          <p:nvPr/>
        </p:nvSpPr>
        <p:spPr>
          <a:xfrm>
            <a:off x="868680" y="3017520"/>
            <a:ext cx="5025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FFFFFF"/>
                </a:solidFill>
                <a:effectLst/>
                <a:uFillTx/>
                <a:latin typeface="Calibri"/>
                <a:ea typeface="Calibri"/>
              </a:rPr>
              <a:t>C</a:t>
            </a:r>
            <a:endParaRPr lang="en-US" sz="1650" b="0" u="none" strike="noStrike">
              <a:solidFill>
                <a:srgbClr val="000000"/>
              </a:solidFill>
              <a:effectLst/>
              <a:uFillTx/>
              <a:latin typeface="Arial"/>
            </a:endParaRPr>
          </a:p>
        </p:txBody>
      </p:sp>
      <p:sp>
        <p:nvSpPr>
          <p:cNvPr id="43" name="Text 6"/>
          <p:cNvSpPr/>
          <p:nvPr/>
        </p:nvSpPr>
        <p:spPr>
          <a:xfrm>
            <a:off x="1554480" y="3090600"/>
            <a:ext cx="2331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2430"/>
                </a:solidFill>
                <a:effectLst/>
                <a:uFillTx/>
                <a:latin typeface="Cambria"/>
                <a:ea typeface="Cambria"/>
              </a:rPr>
              <a:t>Company Portal</a:t>
            </a:r>
            <a:endParaRPr lang="en-US" sz="1700" b="0" u="none" strike="noStrike">
              <a:solidFill>
                <a:srgbClr val="000000"/>
              </a:solidFill>
              <a:effectLst/>
              <a:uFillTx/>
              <a:latin typeface="Arial"/>
            </a:endParaRPr>
          </a:p>
        </p:txBody>
      </p:sp>
      <p:sp>
        <p:nvSpPr>
          <p:cNvPr id="44" name="Text 7"/>
          <p:cNvSpPr/>
          <p:nvPr/>
        </p:nvSpPr>
        <p:spPr>
          <a:xfrm>
            <a:off x="868680" y="3749040"/>
            <a:ext cx="2971440" cy="201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00"/>
              </a:lnSpc>
              <a:tabLst>
                <a:tab pos="0" algn="l"/>
              </a:tabLst>
            </a:pPr>
            <a:r>
              <a:rPr lang="en-US" sz="1300" b="0" u="none" strike="noStrike">
                <a:solidFill>
                  <a:srgbClr val="5B6B77"/>
                </a:solidFill>
                <a:effectLst/>
                <a:uFillTx/>
                <a:latin typeface="Calibri"/>
                <a:ea typeface="Calibri"/>
              </a:rPr>
              <a:t>Create a trip, select a different company as receiver, and publish it only after that company accepts.</a:t>
            </a:r>
            <a:endParaRPr lang="en-US" sz="1300" b="0" u="none" strike="noStrike">
              <a:solidFill>
                <a:srgbClr val="000000"/>
              </a:solidFill>
              <a:effectLst/>
              <a:uFillTx/>
              <a:latin typeface="Arial"/>
            </a:endParaRPr>
          </a:p>
        </p:txBody>
      </p:sp>
      <p:sp>
        <p:nvSpPr>
          <p:cNvPr id="45" name="Shape 8"/>
          <p:cNvSpPr/>
          <p:nvPr/>
        </p:nvSpPr>
        <p:spPr>
          <a:xfrm>
            <a:off x="4297680" y="2743200"/>
            <a:ext cx="3611520" cy="3200040"/>
          </a:xfrm>
          <a:prstGeom prst="roundRect">
            <a:avLst>
              <a:gd name="adj" fmla="val 2286"/>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 name="Shape 9"/>
          <p:cNvSpPr/>
          <p:nvPr/>
        </p:nvSpPr>
        <p:spPr>
          <a:xfrm>
            <a:off x="4617720" y="3017520"/>
            <a:ext cx="502560" cy="502560"/>
          </a:xfrm>
          <a:prstGeom prst="ellipse">
            <a:avLst/>
          </a:prstGeom>
          <a:solidFill>
            <a:srgbClr val="1C729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 name="Text 10"/>
          <p:cNvSpPr/>
          <p:nvPr/>
        </p:nvSpPr>
        <p:spPr>
          <a:xfrm>
            <a:off x="4617720" y="3017520"/>
            <a:ext cx="5025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FFFFFF"/>
                </a:solidFill>
                <a:effectLst/>
                <a:uFillTx/>
                <a:latin typeface="Calibri"/>
                <a:ea typeface="Calibri"/>
              </a:rPr>
              <a:t>D</a:t>
            </a:r>
            <a:endParaRPr lang="en-US" sz="1650" b="0" u="none" strike="noStrike">
              <a:solidFill>
                <a:srgbClr val="000000"/>
              </a:solidFill>
              <a:effectLst/>
              <a:uFillTx/>
              <a:latin typeface="Arial"/>
            </a:endParaRPr>
          </a:p>
        </p:txBody>
      </p:sp>
      <p:sp>
        <p:nvSpPr>
          <p:cNvPr id="48" name="Text 11"/>
          <p:cNvSpPr/>
          <p:nvPr/>
        </p:nvSpPr>
        <p:spPr>
          <a:xfrm>
            <a:off x="5303520" y="3090600"/>
            <a:ext cx="2331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2430"/>
                </a:solidFill>
                <a:effectLst/>
                <a:uFillTx/>
                <a:latin typeface="Cambria"/>
                <a:ea typeface="Cambria"/>
              </a:rPr>
              <a:t>Driver Portal</a:t>
            </a:r>
            <a:endParaRPr lang="en-US" sz="1700" b="0" u="none" strike="noStrike">
              <a:solidFill>
                <a:srgbClr val="000000"/>
              </a:solidFill>
              <a:effectLst/>
              <a:uFillTx/>
              <a:latin typeface="Arial"/>
            </a:endParaRPr>
          </a:p>
        </p:txBody>
      </p:sp>
      <p:sp>
        <p:nvSpPr>
          <p:cNvPr id="49" name="Text 12"/>
          <p:cNvSpPr/>
          <p:nvPr/>
        </p:nvSpPr>
        <p:spPr>
          <a:xfrm>
            <a:off x="4617720" y="3749040"/>
            <a:ext cx="2971440" cy="201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00"/>
              </a:lnSpc>
              <a:tabLst>
                <a:tab pos="0" algn="l"/>
              </a:tabLst>
            </a:pPr>
            <a:r>
              <a:rPr lang="en-US" sz="1300" b="0" u="none" strike="noStrike">
                <a:solidFill>
                  <a:srgbClr val="5B6B77"/>
                </a:solidFill>
                <a:effectLst/>
                <a:uFillTx/>
                <a:latin typeface="Calibri"/>
                <a:ea typeface="Calibri"/>
              </a:rPr>
              <a:t>See published trips, claim one atomically, complete its delivery stages, and add photo evidence. Only one active trip at a time.</a:t>
            </a:r>
            <a:endParaRPr lang="en-US" sz="1300" b="0" u="none" strike="noStrike">
              <a:solidFill>
                <a:srgbClr val="000000"/>
              </a:solidFill>
              <a:effectLst/>
              <a:uFillTx/>
              <a:latin typeface="Arial"/>
            </a:endParaRPr>
          </a:p>
        </p:txBody>
      </p:sp>
      <p:sp>
        <p:nvSpPr>
          <p:cNvPr id="50" name="Shape 13"/>
          <p:cNvSpPr/>
          <p:nvPr/>
        </p:nvSpPr>
        <p:spPr>
          <a:xfrm>
            <a:off x="8046720" y="2743200"/>
            <a:ext cx="3611520" cy="3200040"/>
          </a:xfrm>
          <a:prstGeom prst="roundRect">
            <a:avLst>
              <a:gd name="adj" fmla="val 2286"/>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 name="Shape 14"/>
          <p:cNvSpPr/>
          <p:nvPr/>
        </p:nvSpPr>
        <p:spPr>
          <a:xfrm>
            <a:off x="8366760" y="3017520"/>
            <a:ext cx="502560" cy="502560"/>
          </a:xfrm>
          <a:prstGeom prst="ellipse">
            <a:avLst/>
          </a:prstGeom>
          <a:solidFill>
            <a:srgbClr val="2129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 name="Text 15"/>
          <p:cNvSpPr/>
          <p:nvPr/>
        </p:nvSpPr>
        <p:spPr>
          <a:xfrm>
            <a:off x="8366760" y="3017520"/>
            <a:ext cx="5025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FFFFFF"/>
                </a:solidFill>
                <a:effectLst/>
                <a:uFillTx/>
                <a:latin typeface="Calibri"/>
                <a:ea typeface="Calibri"/>
              </a:rPr>
              <a:t>R</a:t>
            </a:r>
            <a:endParaRPr lang="en-US" sz="1650" b="0" u="none" strike="noStrike">
              <a:solidFill>
                <a:srgbClr val="000000"/>
              </a:solidFill>
              <a:effectLst/>
              <a:uFillTx/>
              <a:latin typeface="Arial"/>
            </a:endParaRPr>
          </a:p>
        </p:txBody>
      </p:sp>
      <p:sp>
        <p:nvSpPr>
          <p:cNvPr id="53" name="Text 16"/>
          <p:cNvSpPr/>
          <p:nvPr/>
        </p:nvSpPr>
        <p:spPr>
          <a:xfrm>
            <a:off x="9052560" y="3090600"/>
            <a:ext cx="2331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2430"/>
                </a:solidFill>
                <a:effectLst/>
                <a:uFillTx/>
                <a:latin typeface="Cambria"/>
                <a:ea typeface="Cambria"/>
              </a:rPr>
              <a:t>Reviewer Portal</a:t>
            </a:r>
            <a:endParaRPr lang="en-US" sz="1700" b="0" u="none" strike="noStrike">
              <a:solidFill>
                <a:srgbClr val="000000"/>
              </a:solidFill>
              <a:effectLst/>
              <a:uFillTx/>
              <a:latin typeface="Arial"/>
            </a:endParaRPr>
          </a:p>
        </p:txBody>
      </p:sp>
      <p:sp>
        <p:nvSpPr>
          <p:cNvPr id="54" name="Text 17"/>
          <p:cNvSpPr/>
          <p:nvPr/>
        </p:nvSpPr>
        <p:spPr>
          <a:xfrm>
            <a:off x="8366760" y="3749040"/>
            <a:ext cx="2971440" cy="201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00"/>
              </a:lnSpc>
              <a:tabLst>
                <a:tab pos="0" algn="l"/>
              </a:tabLst>
            </a:pPr>
            <a:r>
              <a:rPr lang="en-US" sz="1300" b="0" u="none" strike="noStrike">
                <a:solidFill>
                  <a:srgbClr val="5B6B77"/>
                </a:solidFill>
                <a:effectLst/>
                <a:uFillTx/>
                <a:latin typeface="Calibri"/>
                <a:ea typeface="Calibri"/>
              </a:rPr>
              <a:t>Sees only submitted verification evidence and approves or rejects company/driver eligibility.</a:t>
            </a:r>
            <a:endParaRPr lang="en-US" sz="1300" b="0" u="none" strike="noStrike">
              <a:solidFill>
                <a:srgbClr val="000000"/>
              </a:solidFill>
              <a:effectLst/>
              <a:uFillTx/>
              <a:latin typeface="Arial"/>
            </a:endParaRPr>
          </a:p>
        </p:txBody>
      </p:sp>
      <p:sp>
        <p:nvSpPr>
          <p:cNvPr id="55" name="Text 18"/>
          <p:cNvSpPr/>
          <p:nvPr/>
        </p:nvSpPr>
        <p:spPr>
          <a:xfrm>
            <a:off x="548640" y="6172200"/>
            <a:ext cx="10972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i="1" u="none" strike="noStrike">
                <a:solidFill>
                  <a:srgbClr val="065A82"/>
                </a:solidFill>
                <a:effectLst/>
                <a:uFillTx/>
                <a:latin typeface="Calibri"/>
                <a:ea typeface="Calibri"/>
              </a:rPr>
              <a:t>Deterministic delivery logic  +  AI evidence summarization — kept distinct by design.</a:t>
            </a:r>
            <a:endParaRPr lang="en-US" sz="1250" b="0" u="none" strike="noStrike">
              <a:solidFill>
                <a:srgbClr val="000000"/>
              </a:solidFill>
              <a:effectLst/>
              <a:uFillTx/>
              <a:latin typeface="Arial"/>
            </a:endParaRPr>
          </a:p>
        </p:txBody>
      </p:sp>
      <p:sp>
        <p:nvSpPr>
          <p:cNvPr id="56" name="Text 19"/>
          <p:cNvSpPr/>
          <p:nvPr/>
        </p:nvSpPr>
        <p:spPr>
          <a:xfrm>
            <a:off x="11521440" y="6446520"/>
            <a:ext cx="548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u="none" strike="noStrike">
                <a:solidFill>
                  <a:srgbClr val="5B6B77"/>
                </a:solidFill>
                <a:effectLst/>
                <a:uFillTx/>
                <a:latin typeface="Calibri"/>
                <a:ea typeface="Calibri"/>
              </a:rPr>
              <a:t>03</a:t>
            </a:r>
            <a:endParaRPr lang="en-US" sz="10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Text 0"/>
          <p:cNvSpPr/>
          <p:nvPr/>
        </p:nvSpPr>
        <p:spPr>
          <a:xfrm>
            <a:off x="548640" y="36576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3FC1A0"/>
                </a:solidFill>
                <a:effectLst/>
                <a:uFillTx/>
                <a:latin typeface="Calibri"/>
                <a:ea typeface="Calibri"/>
              </a:rPr>
              <a:t>HOW IT WORKS</a:t>
            </a:r>
            <a:endParaRPr lang="en-US" sz="1200" b="0" u="none" strike="noStrike">
              <a:solidFill>
                <a:srgbClr val="000000"/>
              </a:solidFill>
              <a:effectLst/>
              <a:uFillTx/>
              <a:latin typeface="Arial"/>
            </a:endParaRPr>
          </a:p>
        </p:txBody>
      </p:sp>
      <p:sp>
        <p:nvSpPr>
          <p:cNvPr id="58" name="Text 1"/>
          <p:cNvSpPr/>
          <p:nvPr/>
        </p:nvSpPr>
        <p:spPr>
          <a:xfrm>
            <a:off x="548640" y="68580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B2430"/>
                </a:solidFill>
                <a:effectLst/>
                <a:uFillTx/>
                <a:latin typeface="Cambria"/>
                <a:ea typeface="Cambria"/>
              </a:rPr>
              <a:t>From verified identity to completed delivery</a:t>
            </a:r>
            <a:endParaRPr lang="en-US" sz="3200" b="0" u="none" strike="noStrike">
              <a:solidFill>
                <a:srgbClr val="000000"/>
              </a:solidFill>
              <a:effectLst/>
              <a:uFillTx/>
              <a:latin typeface="Arial"/>
            </a:endParaRPr>
          </a:p>
        </p:txBody>
      </p:sp>
      <p:sp>
        <p:nvSpPr>
          <p:cNvPr id="59" name="Shape 2"/>
          <p:cNvSpPr/>
          <p:nvPr/>
        </p:nvSpPr>
        <p:spPr>
          <a:xfrm>
            <a:off x="1028520" y="3405960"/>
            <a:ext cx="10104120" cy="360"/>
          </a:xfrm>
          <a:prstGeom prst="line">
            <a:avLst/>
          </a:prstGeom>
          <a:ln w="38100">
            <a:solidFill>
              <a:srgbClr val="D7DEE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0" name="Shape 3"/>
          <p:cNvSpPr/>
          <p:nvPr/>
        </p:nvSpPr>
        <p:spPr>
          <a:xfrm>
            <a:off x="640080" y="3017520"/>
            <a:ext cx="776880" cy="776880"/>
          </a:xfrm>
          <a:prstGeom prst="ellipse">
            <a:avLst/>
          </a:prstGeom>
          <a:solidFill>
            <a:srgbClr val="065A8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1" name="Text 4"/>
          <p:cNvSpPr/>
          <p:nvPr/>
        </p:nvSpPr>
        <p:spPr>
          <a:xfrm>
            <a:off x="640080" y="3017520"/>
            <a:ext cx="7768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50" b="1" u="none" strike="noStrike">
                <a:solidFill>
                  <a:srgbClr val="FFFFFF"/>
                </a:solidFill>
                <a:effectLst/>
                <a:uFillTx/>
                <a:latin typeface="Calibri"/>
                <a:ea typeface="Calibri"/>
              </a:rPr>
              <a:t>1</a:t>
            </a:r>
            <a:endParaRPr lang="en-US" sz="2550" b="0" u="none" strike="noStrike">
              <a:solidFill>
                <a:srgbClr val="000000"/>
              </a:solidFill>
              <a:effectLst/>
              <a:uFillTx/>
              <a:latin typeface="Arial"/>
            </a:endParaRPr>
          </a:p>
        </p:txBody>
      </p:sp>
      <p:sp>
        <p:nvSpPr>
          <p:cNvPr id="62" name="Text 5"/>
          <p:cNvSpPr/>
          <p:nvPr/>
        </p:nvSpPr>
        <p:spPr>
          <a:xfrm>
            <a:off x="137160" y="3977640"/>
            <a:ext cx="17827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1500"/>
              </a:lnSpc>
              <a:tabLst>
                <a:tab pos="0" algn="l"/>
              </a:tabLst>
            </a:pPr>
            <a:r>
              <a:rPr lang="en-US" sz="1250" b="1" u="none" strike="noStrike">
                <a:solidFill>
                  <a:srgbClr val="1B2430"/>
                </a:solidFill>
                <a:effectLst/>
                <a:uFillTx/>
                <a:latin typeface="Calibri"/>
                <a:ea typeface="Calibri"/>
              </a:rPr>
              <a:t>Reviewer verifies driver/company identity</a:t>
            </a:r>
            <a:endParaRPr lang="en-US" sz="1250" b="0" u="none" strike="noStrike">
              <a:solidFill>
                <a:srgbClr val="000000"/>
              </a:solidFill>
              <a:effectLst/>
              <a:uFillTx/>
              <a:latin typeface="Arial"/>
            </a:endParaRPr>
          </a:p>
        </p:txBody>
      </p:sp>
      <p:sp>
        <p:nvSpPr>
          <p:cNvPr id="63" name="Shape 6"/>
          <p:cNvSpPr/>
          <p:nvPr/>
        </p:nvSpPr>
        <p:spPr>
          <a:xfrm>
            <a:off x="3166200" y="3017520"/>
            <a:ext cx="776880" cy="776880"/>
          </a:xfrm>
          <a:prstGeom prst="ellipse">
            <a:avLst/>
          </a:prstGeom>
          <a:solidFill>
            <a:srgbClr val="1C729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4" name="Text 7"/>
          <p:cNvSpPr/>
          <p:nvPr/>
        </p:nvSpPr>
        <p:spPr>
          <a:xfrm>
            <a:off x="3166200" y="3017520"/>
            <a:ext cx="7768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50" b="1" u="none" strike="noStrike">
                <a:solidFill>
                  <a:srgbClr val="FFFFFF"/>
                </a:solidFill>
                <a:effectLst/>
                <a:uFillTx/>
                <a:latin typeface="Calibri"/>
                <a:ea typeface="Calibri"/>
              </a:rPr>
              <a:t>2</a:t>
            </a:r>
            <a:endParaRPr lang="en-US" sz="2550" b="0" u="none" strike="noStrike">
              <a:solidFill>
                <a:srgbClr val="000000"/>
              </a:solidFill>
              <a:effectLst/>
              <a:uFillTx/>
              <a:latin typeface="Arial"/>
            </a:endParaRPr>
          </a:p>
        </p:txBody>
      </p:sp>
      <p:sp>
        <p:nvSpPr>
          <p:cNvPr id="65" name="Text 8"/>
          <p:cNvSpPr/>
          <p:nvPr/>
        </p:nvSpPr>
        <p:spPr>
          <a:xfrm>
            <a:off x="2663280" y="3977640"/>
            <a:ext cx="17827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1500"/>
              </a:lnSpc>
              <a:tabLst>
                <a:tab pos="0" algn="l"/>
              </a:tabLst>
            </a:pPr>
            <a:r>
              <a:rPr lang="en-US" sz="1250" b="1" u="none" strike="noStrike">
                <a:solidFill>
                  <a:srgbClr val="1B2430"/>
                </a:solidFill>
                <a:effectLst/>
                <a:uFillTx/>
                <a:latin typeface="Calibri"/>
                <a:ea typeface="Calibri"/>
              </a:rPr>
              <a:t>Sender company creates trip + selects a different receiver</a:t>
            </a:r>
            <a:endParaRPr lang="en-US" sz="1250" b="0" u="none" strike="noStrike">
              <a:solidFill>
                <a:srgbClr val="000000"/>
              </a:solidFill>
              <a:effectLst/>
              <a:uFillTx/>
              <a:latin typeface="Arial"/>
            </a:endParaRPr>
          </a:p>
        </p:txBody>
      </p:sp>
      <p:sp>
        <p:nvSpPr>
          <p:cNvPr id="66" name="Shape 9"/>
          <p:cNvSpPr/>
          <p:nvPr/>
        </p:nvSpPr>
        <p:spPr>
          <a:xfrm>
            <a:off x="5692320" y="3017520"/>
            <a:ext cx="776880" cy="776880"/>
          </a:xfrm>
          <a:prstGeom prst="ellipse">
            <a:avLst/>
          </a:prstGeom>
          <a:solidFill>
            <a:srgbClr val="065A8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7" name="Text 10"/>
          <p:cNvSpPr/>
          <p:nvPr/>
        </p:nvSpPr>
        <p:spPr>
          <a:xfrm>
            <a:off x="5692320" y="3017520"/>
            <a:ext cx="7768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50" b="1" u="none" strike="noStrike">
                <a:solidFill>
                  <a:srgbClr val="FFFFFF"/>
                </a:solidFill>
                <a:effectLst/>
                <a:uFillTx/>
                <a:latin typeface="Calibri"/>
                <a:ea typeface="Calibri"/>
              </a:rPr>
              <a:t>3</a:t>
            </a:r>
            <a:endParaRPr lang="en-US" sz="2550" b="0" u="none" strike="noStrike">
              <a:solidFill>
                <a:srgbClr val="000000"/>
              </a:solidFill>
              <a:effectLst/>
              <a:uFillTx/>
              <a:latin typeface="Arial"/>
            </a:endParaRPr>
          </a:p>
        </p:txBody>
      </p:sp>
      <p:sp>
        <p:nvSpPr>
          <p:cNvPr id="68" name="Text 11"/>
          <p:cNvSpPr/>
          <p:nvPr/>
        </p:nvSpPr>
        <p:spPr>
          <a:xfrm>
            <a:off x="5189400" y="3977640"/>
            <a:ext cx="17827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1500"/>
              </a:lnSpc>
              <a:tabLst>
                <a:tab pos="0" algn="l"/>
              </a:tabLst>
            </a:pPr>
            <a:r>
              <a:rPr lang="en-US" sz="1250" b="1" u="none" strike="noStrike">
                <a:solidFill>
                  <a:srgbClr val="1B2430"/>
                </a:solidFill>
                <a:effectLst/>
                <a:uFillTx/>
                <a:latin typeface="Calibri"/>
                <a:ea typeface="Calibri"/>
              </a:rPr>
              <a:t>Receiver accepts → trip is published to drivers</a:t>
            </a:r>
            <a:endParaRPr lang="en-US" sz="1250" b="0" u="none" strike="noStrike">
              <a:solidFill>
                <a:srgbClr val="000000"/>
              </a:solidFill>
              <a:effectLst/>
              <a:uFillTx/>
              <a:latin typeface="Arial"/>
            </a:endParaRPr>
          </a:p>
        </p:txBody>
      </p:sp>
      <p:sp>
        <p:nvSpPr>
          <p:cNvPr id="69" name="Shape 12"/>
          <p:cNvSpPr/>
          <p:nvPr/>
        </p:nvSpPr>
        <p:spPr>
          <a:xfrm>
            <a:off x="8218080" y="3017520"/>
            <a:ext cx="776880" cy="776880"/>
          </a:xfrm>
          <a:prstGeom prst="ellipse">
            <a:avLst/>
          </a:prstGeom>
          <a:solidFill>
            <a:srgbClr val="1C729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0" name="Text 13"/>
          <p:cNvSpPr/>
          <p:nvPr/>
        </p:nvSpPr>
        <p:spPr>
          <a:xfrm>
            <a:off x="8218080" y="3017520"/>
            <a:ext cx="7768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50" b="1" u="none" strike="noStrike">
                <a:solidFill>
                  <a:srgbClr val="FFFFFF"/>
                </a:solidFill>
                <a:effectLst/>
                <a:uFillTx/>
                <a:latin typeface="Calibri"/>
                <a:ea typeface="Calibri"/>
              </a:rPr>
              <a:t>4</a:t>
            </a:r>
            <a:endParaRPr lang="en-US" sz="2550" b="0" u="none" strike="noStrike">
              <a:solidFill>
                <a:srgbClr val="000000"/>
              </a:solidFill>
              <a:effectLst/>
              <a:uFillTx/>
              <a:latin typeface="Arial"/>
            </a:endParaRPr>
          </a:p>
        </p:txBody>
      </p:sp>
      <p:sp>
        <p:nvSpPr>
          <p:cNvPr id="71" name="Text 14"/>
          <p:cNvSpPr/>
          <p:nvPr/>
        </p:nvSpPr>
        <p:spPr>
          <a:xfrm>
            <a:off x="7715160" y="3977640"/>
            <a:ext cx="17827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1500"/>
              </a:lnSpc>
              <a:tabLst>
                <a:tab pos="0" algn="l"/>
              </a:tabLst>
            </a:pPr>
            <a:r>
              <a:rPr lang="en-US" sz="1250" b="1" u="none" strike="noStrike">
                <a:solidFill>
                  <a:srgbClr val="1B2430"/>
                </a:solidFill>
                <a:effectLst/>
                <a:uFillTx/>
                <a:latin typeface="Calibri"/>
                <a:ea typeface="Calibri"/>
              </a:rPr>
              <a:t>Driver claims atomically → one active trip at a time → stages + photo evidence</a:t>
            </a:r>
            <a:endParaRPr lang="en-US" sz="1250" b="0" u="none" strike="noStrike">
              <a:solidFill>
                <a:srgbClr val="000000"/>
              </a:solidFill>
              <a:effectLst/>
              <a:uFillTx/>
              <a:latin typeface="Arial"/>
            </a:endParaRPr>
          </a:p>
        </p:txBody>
      </p:sp>
      <p:sp>
        <p:nvSpPr>
          <p:cNvPr id="72" name="Shape 15"/>
          <p:cNvSpPr/>
          <p:nvPr/>
        </p:nvSpPr>
        <p:spPr>
          <a:xfrm>
            <a:off x="10744200" y="3017520"/>
            <a:ext cx="776880" cy="776880"/>
          </a:xfrm>
          <a:prstGeom prst="ellipse">
            <a:avLst/>
          </a:prstGeom>
          <a:solidFill>
            <a:srgbClr val="2129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3" name="Text 16"/>
          <p:cNvSpPr/>
          <p:nvPr/>
        </p:nvSpPr>
        <p:spPr>
          <a:xfrm>
            <a:off x="10744200" y="3017520"/>
            <a:ext cx="7768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50" b="1" u="none" strike="noStrike">
                <a:solidFill>
                  <a:srgbClr val="FFFFFF"/>
                </a:solidFill>
                <a:effectLst/>
                <a:uFillTx/>
                <a:latin typeface="Calibri"/>
                <a:ea typeface="Calibri"/>
              </a:rPr>
              <a:t>5</a:t>
            </a:r>
            <a:endParaRPr lang="en-US" sz="2550" b="0" u="none" strike="noStrike">
              <a:solidFill>
                <a:srgbClr val="000000"/>
              </a:solidFill>
              <a:effectLst/>
              <a:uFillTx/>
              <a:latin typeface="Arial"/>
            </a:endParaRPr>
          </a:p>
        </p:txBody>
      </p:sp>
      <p:sp>
        <p:nvSpPr>
          <p:cNvPr id="74" name="Text 17"/>
          <p:cNvSpPr/>
          <p:nvPr/>
        </p:nvSpPr>
        <p:spPr>
          <a:xfrm>
            <a:off x="10241280" y="3977640"/>
            <a:ext cx="17827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1500"/>
              </a:lnSpc>
              <a:tabLst>
                <a:tab pos="0" algn="l"/>
              </a:tabLst>
            </a:pPr>
            <a:r>
              <a:rPr lang="en-US" sz="1250" b="1" u="none" strike="noStrike">
                <a:solidFill>
                  <a:srgbClr val="1B2430"/>
                </a:solidFill>
                <a:effectLst/>
                <a:uFillTx/>
                <a:latin typeface="Calibri"/>
                <a:ea typeface="Calibri"/>
              </a:rPr>
              <a:t>Driver + receiver confirm completion → sender is notified</a:t>
            </a:r>
            <a:endParaRPr lang="en-US" sz="1250" b="0" u="none" strike="noStrike">
              <a:solidFill>
                <a:srgbClr val="000000"/>
              </a:solidFill>
              <a:effectLst/>
              <a:uFillTx/>
              <a:latin typeface="Arial"/>
            </a:endParaRPr>
          </a:p>
        </p:txBody>
      </p:sp>
      <p:sp>
        <p:nvSpPr>
          <p:cNvPr id="75" name="Shape 18"/>
          <p:cNvSpPr/>
          <p:nvPr/>
        </p:nvSpPr>
        <p:spPr>
          <a:xfrm>
            <a:off x="548640" y="5212080"/>
            <a:ext cx="11063880" cy="1051200"/>
          </a:xfrm>
          <a:prstGeom prst="roundRect">
            <a:avLst>
              <a:gd name="adj" fmla="val 6957"/>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 name="Text 19"/>
          <p:cNvSpPr/>
          <p:nvPr/>
        </p:nvSpPr>
        <p:spPr>
          <a:xfrm>
            <a:off x="822960" y="5394960"/>
            <a:ext cx="105152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tabLst>
                <a:tab pos="0" algn="l"/>
              </a:tabLst>
            </a:pPr>
            <a:r>
              <a:rPr lang="en-US" sz="1300" b="1" u="none" strike="noStrike">
                <a:solidFill>
                  <a:srgbClr val="1B2430"/>
                </a:solidFill>
                <a:effectLst/>
                <a:uFillTx/>
                <a:latin typeface="Calibri"/>
                <a:ea typeface="Calibri"/>
              </a:rPr>
              <a:t>The receiver exists only for that trip: it accepts before publication and confirms required stages through completion. Reviewer access stays limited to submitted verification evidence.</a:t>
            </a:r>
            <a:endParaRPr lang="en-US" sz="1300" b="0" u="none" strike="noStrike">
              <a:solidFill>
                <a:srgbClr val="000000"/>
              </a:solidFill>
              <a:effectLst/>
              <a:uFillTx/>
              <a:latin typeface="Arial"/>
            </a:endParaRPr>
          </a:p>
        </p:txBody>
      </p:sp>
      <p:sp>
        <p:nvSpPr>
          <p:cNvPr id="77" name="Text 20"/>
          <p:cNvSpPr/>
          <p:nvPr/>
        </p:nvSpPr>
        <p:spPr>
          <a:xfrm>
            <a:off x="11521440" y="6446520"/>
            <a:ext cx="548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u="none" strike="noStrike">
                <a:solidFill>
                  <a:srgbClr val="5B6B77"/>
                </a:solidFill>
                <a:effectLst/>
                <a:uFillTx/>
                <a:latin typeface="Calibri"/>
                <a:ea typeface="Calibri"/>
              </a:rPr>
              <a:t>04</a:t>
            </a:r>
            <a:endParaRPr lang="en-US" sz="10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Text 0"/>
          <p:cNvSpPr/>
          <p:nvPr/>
        </p:nvSpPr>
        <p:spPr>
          <a:xfrm>
            <a:off x="548640" y="36576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3FC1A0"/>
                </a:solidFill>
                <a:effectLst/>
                <a:uFillTx/>
                <a:latin typeface="Calibri"/>
                <a:ea typeface="Calibri"/>
              </a:rPr>
              <a:t>WHO IT'S FOR</a:t>
            </a:r>
            <a:endParaRPr lang="en-US" sz="1200" b="0" u="none" strike="noStrike">
              <a:solidFill>
                <a:srgbClr val="000000"/>
              </a:solidFill>
              <a:effectLst/>
              <a:uFillTx/>
              <a:latin typeface="Arial"/>
            </a:endParaRPr>
          </a:p>
        </p:txBody>
      </p:sp>
      <p:sp>
        <p:nvSpPr>
          <p:cNvPr id="79" name="Text 1"/>
          <p:cNvSpPr/>
          <p:nvPr/>
        </p:nvSpPr>
        <p:spPr>
          <a:xfrm>
            <a:off x="548640" y="68580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B2430"/>
                </a:solidFill>
                <a:effectLst/>
                <a:uFillTx/>
                <a:latin typeface="Cambria"/>
                <a:ea typeface="Cambria"/>
              </a:rPr>
              <a:t>Three roles, one connected workflow</a:t>
            </a:r>
            <a:endParaRPr lang="en-US" sz="3200" b="0" u="none" strike="noStrike">
              <a:solidFill>
                <a:srgbClr val="000000"/>
              </a:solidFill>
              <a:effectLst/>
              <a:uFillTx/>
              <a:latin typeface="Arial"/>
            </a:endParaRPr>
          </a:p>
        </p:txBody>
      </p:sp>
      <p:sp>
        <p:nvSpPr>
          <p:cNvPr id="80" name="Shape 2"/>
          <p:cNvSpPr/>
          <p:nvPr/>
        </p:nvSpPr>
        <p:spPr>
          <a:xfrm>
            <a:off x="548640" y="1737360"/>
            <a:ext cx="3611520" cy="4297320"/>
          </a:xfrm>
          <a:prstGeom prst="roundRect">
            <a:avLst>
              <a:gd name="adj" fmla="val 2532"/>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1" name="Shape 3"/>
          <p:cNvSpPr/>
          <p:nvPr/>
        </p:nvSpPr>
        <p:spPr>
          <a:xfrm>
            <a:off x="868680" y="2011680"/>
            <a:ext cx="594000" cy="594000"/>
          </a:xfrm>
          <a:prstGeom prst="ellipse">
            <a:avLst/>
          </a:prstGeom>
          <a:solidFill>
            <a:srgbClr val="065A8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2" name="Text 4"/>
          <p:cNvSpPr/>
          <p:nvPr/>
        </p:nvSpPr>
        <p:spPr>
          <a:xfrm>
            <a:off x="868680" y="2011680"/>
            <a:ext cx="594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50" b="1" u="none" strike="noStrike">
                <a:solidFill>
                  <a:srgbClr val="FFFFFF"/>
                </a:solidFill>
                <a:effectLst/>
                <a:uFillTx/>
                <a:latin typeface="Calibri"/>
                <a:ea typeface="Calibri"/>
              </a:rPr>
              <a:t>S</a:t>
            </a:r>
            <a:endParaRPr lang="en-US" sz="1950" b="0" u="none" strike="noStrike">
              <a:solidFill>
                <a:srgbClr val="000000"/>
              </a:solidFill>
              <a:effectLst/>
              <a:uFillTx/>
              <a:latin typeface="Arial"/>
            </a:endParaRPr>
          </a:p>
        </p:txBody>
      </p:sp>
      <p:sp>
        <p:nvSpPr>
          <p:cNvPr id="83" name="Text 5"/>
          <p:cNvSpPr/>
          <p:nvPr/>
        </p:nvSpPr>
        <p:spPr>
          <a:xfrm>
            <a:off x="1600200" y="2084760"/>
            <a:ext cx="22399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2430"/>
                </a:solidFill>
                <a:effectLst/>
                <a:uFillTx/>
                <a:latin typeface="Cambria"/>
                <a:ea typeface="Cambria"/>
              </a:rPr>
              <a:t>Company</a:t>
            </a:r>
            <a:endParaRPr lang="en-US" sz="1700" b="0" u="none" strike="noStrike">
              <a:solidFill>
                <a:srgbClr val="000000"/>
              </a:solidFill>
              <a:effectLst/>
              <a:uFillTx/>
              <a:latin typeface="Arial"/>
            </a:endParaRPr>
          </a:p>
        </p:txBody>
      </p:sp>
      <p:sp>
        <p:nvSpPr>
          <p:cNvPr id="84" name="Text 6"/>
          <p:cNvSpPr/>
          <p:nvPr/>
        </p:nvSpPr>
        <p:spPr>
          <a:xfrm>
            <a:off x="868680" y="2834640"/>
            <a:ext cx="29714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tabLst>
                <a:tab pos="0" algn="l"/>
              </a:tabLst>
            </a:pPr>
            <a:r>
              <a:rPr lang="en-US" sz="1300" b="0" u="none" strike="noStrike">
                <a:solidFill>
                  <a:srgbClr val="5B6B77"/>
                </a:solidFill>
                <a:effectLst/>
                <a:uFillTx/>
                <a:latin typeface="Calibri"/>
                <a:ea typeface="Calibri"/>
              </a:rPr>
              <a:t>Creates a trip, selects a receiving company, and waits for acceptance before publishing</a:t>
            </a:r>
            <a:endParaRPr lang="en-US" sz="1300" b="0" u="none" strike="noStrike">
              <a:solidFill>
                <a:srgbClr val="000000"/>
              </a:solidFill>
              <a:effectLst/>
              <a:uFillTx/>
              <a:latin typeface="Arial"/>
            </a:endParaRPr>
          </a:p>
        </p:txBody>
      </p:sp>
      <p:sp>
        <p:nvSpPr>
          <p:cNvPr id="85" name="Shape 7"/>
          <p:cNvSpPr/>
          <p:nvPr/>
        </p:nvSpPr>
        <p:spPr>
          <a:xfrm>
            <a:off x="868680" y="4160520"/>
            <a:ext cx="2971800" cy="360"/>
          </a:xfrm>
          <a:prstGeom prst="line">
            <a:avLst/>
          </a:prstGeom>
          <a:ln w="12700">
            <a:solidFill>
              <a:srgbClr val="D7DEE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86" name="Text 8"/>
          <p:cNvSpPr/>
          <p:nvPr/>
        </p:nvSpPr>
        <p:spPr>
          <a:xfrm>
            <a:off x="868680" y="4389120"/>
            <a:ext cx="29714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tabLst>
                <a:tab pos="0" algn="l"/>
              </a:tabLst>
            </a:pPr>
            <a:r>
              <a:rPr lang="en-US" sz="1250" b="0" i="1" u="none" strike="noStrike">
                <a:solidFill>
                  <a:srgbClr val="065A82"/>
                </a:solidFill>
                <a:effectLst/>
                <a:uFillTx/>
                <a:latin typeface="Calibri"/>
                <a:ea typeface="Calibri"/>
              </a:rPr>
              <a:t>“I need a clear way to publish deliveries and keep reliable proof.”</a:t>
            </a:r>
            <a:endParaRPr lang="en-US" sz="1250" b="0" u="none" strike="noStrike">
              <a:solidFill>
                <a:srgbClr val="000000"/>
              </a:solidFill>
              <a:effectLst/>
              <a:uFillTx/>
              <a:latin typeface="Arial"/>
            </a:endParaRPr>
          </a:p>
        </p:txBody>
      </p:sp>
      <p:sp>
        <p:nvSpPr>
          <p:cNvPr id="87" name="Shape 9"/>
          <p:cNvSpPr/>
          <p:nvPr/>
        </p:nvSpPr>
        <p:spPr>
          <a:xfrm>
            <a:off x="4297680" y="1737360"/>
            <a:ext cx="3611520" cy="4297320"/>
          </a:xfrm>
          <a:prstGeom prst="roundRect">
            <a:avLst>
              <a:gd name="adj" fmla="val 2532"/>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 name="Shape 10"/>
          <p:cNvSpPr/>
          <p:nvPr/>
        </p:nvSpPr>
        <p:spPr>
          <a:xfrm>
            <a:off x="4617720" y="2011680"/>
            <a:ext cx="594000" cy="594000"/>
          </a:xfrm>
          <a:prstGeom prst="ellipse">
            <a:avLst/>
          </a:prstGeom>
          <a:solidFill>
            <a:srgbClr val="1C729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9" name="Text 11"/>
          <p:cNvSpPr/>
          <p:nvPr/>
        </p:nvSpPr>
        <p:spPr>
          <a:xfrm>
            <a:off x="4617720" y="2011680"/>
            <a:ext cx="594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50" b="1" u="none" strike="noStrike">
                <a:solidFill>
                  <a:srgbClr val="FFFFFF"/>
                </a:solidFill>
                <a:effectLst/>
                <a:uFillTx/>
                <a:latin typeface="Calibri"/>
                <a:ea typeface="Calibri"/>
              </a:rPr>
              <a:t>D</a:t>
            </a:r>
            <a:endParaRPr lang="en-US" sz="1950" b="0" u="none" strike="noStrike">
              <a:solidFill>
                <a:srgbClr val="000000"/>
              </a:solidFill>
              <a:effectLst/>
              <a:uFillTx/>
              <a:latin typeface="Arial"/>
            </a:endParaRPr>
          </a:p>
        </p:txBody>
      </p:sp>
      <p:sp>
        <p:nvSpPr>
          <p:cNvPr id="90" name="Text 12"/>
          <p:cNvSpPr/>
          <p:nvPr/>
        </p:nvSpPr>
        <p:spPr>
          <a:xfrm>
            <a:off x="5349240" y="2084760"/>
            <a:ext cx="22399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2430"/>
                </a:solidFill>
                <a:effectLst/>
                <a:uFillTx/>
                <a:latin typeface="Cambria"/>
                <a:ea typeface="Cambria"/>
              </a:rPr>
              <a:t>Driver</a:t>
            </a:r>
            <a:endParaRPr lang="en-US" sz="1700" b="0" u="none" strike="noStrike">
              <a:solidFill>
                <a:srgbClr val="000000"/>
              </a:solidFill>
              <a:effectLst/>
              <a:uFillTx/>
              <a:latin typeface="Arial"/>
            </a:endParaRPr>
          </a:p>
        </p:txBody>
      </p:sp>
      <p:sp>
        <p:nvSpPr>
          <p:cNvPr id="91" name="Text 13"/>
          <p:cNvSpPr/>
          <p:nvPr/>
        </p:nvSpPr>
        <p:spPr>
          <a:xfrm>
            <a:off x="4617720" y="2834640"/>
            <a:ext cx="29714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tabLst>
                <a:tab pos="0" algn="l"/>
              </a:tabLst>
            </a:pPr>
            <a:r>
              <a:rPr lang="en-US" sz="1300" b="0" u="none" strike="noStrike">
                <a:solidFill>
                  <a:srgbClr val="5B6B77"/>
                </a:solidFill>
                <a:effectLst/>
                <a:uFillTx/>
                <a:latin typeface="Calibri"/>
                <a:ea typeface="Calibri"/>
              </a:rPr>
              <a:t>Claims a published trip, completes each stage, and uploads photo evidence</a:t>
            </a:r>
            <a:endParaRPr lang="en-US" sz="1300" b="0" u="none" strike="noStrike">
              <a:solidFill>
                <a:srgbClr val="000000"/>
              </a:solidFill>
              <a:effectLst/>
              <a:uFillTx/>
              <a:latin typeface="Arial"/>
            </a:endParaRPr>
          </a:p>
        </p:txBody>
      </p:sp>
      <p:sp>
        <p:nvSpPr>
          <p:cNvPr id="92" name="Shape 14"/>
          <p:cNvSpPr/>
          <p:nvPr/>
        </p:nvSpPr>
        <p:spPr>
          <a:xfrm>
            <a:off x="4617720" y="4160520"/>
            <a:ext cx="2971800" cy="360"/>
          </a:xfrm>
          <a:prstGeom prst="line">
            <a:avLst/>
          </a:prstGeom>
          <a:ln w="12700">
            <a:solidFill>
              <a:srgbClr val="D7DEE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3" name="Text 15"/>
          <p:cNvSpPr/>
          <p:nvPr/>
        </p:nvSpPr>
        <p:spPr>
          <a:xfrm>
            <a:off x="4617720" y="4389120"/>
            <a:ext cx="29714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tabLst>
                <a:tab pos="0" algn="l"/>
              </a:tabLst>
            </a:pPr>
            <a:r>
              <a:rPr lang="en-US" sz="1250" b="0" i="1" u="none" strike="noStrike">
                <a:solidFill>
                  <a:srgbClr val="1C7293"/>
                </a:solidFill>
                <a:effectLst/>
                <a:uFillTx/>
                <a:latin typeface="Calibri"/>
                <a:ea typeface="Calibri"/>
              </a:rPr>
              <a:t>“I need a fair, simple way to find and complete delivery work.”</a:t>
            </a:r>
            <a:endParaRPr lang="en-US" sz="1250" b="0" u="none" strike="noStrike">
              <a:solidFill>
                <a:srgbClr val="000000"/>
              </a:solidFill>
              <a:effectLst/>
              <a:uFillTx/>
              <a:latin typeface="Arial"/>
            </a:endParaRPr>
          </a:p>
        </p:txBody>
      </p:sp>
      <p:sp>
        <p:nvSpPr>
          <p:cNvPr id="94" name="Shape 16"/>
          <p:cNvSpPr/>
          <p:nvPr/>
        </p:nvSpPr>
        <p:spPr>
          <a:xfrm>
            <a:off x="8046720" y="1737360"/>
            <a:ext cx="3611520" cy="4297320"/>
          </a:xfrm>
          <a:prstGeom prst="roundRect">
            <a:avLst>
              <a:gd name="adj" fmla="val 2532"/>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5" name="Shape 17"/>
          <p:cNvSpPr/>
          <p:nvPr/>
        </p:nvSpPr>
        <p:spPr>
          <a:xfrm>
            <a:off x="8366760" y="2011680"/>
            <a:ext cx="594000" cy="594000"/>
          </a:xfrm>
          <a:prstGeom prst="ellipse">
            <a:avLst/>
          </a:prstGeom>
          <a:solidFill>
            <a:srgbClr val="2129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6" name="Text 18"/>
          <p:cNvSpPr/>
          <p:nvPr/>
        </p:nvSpPr>
        <p:spPr>
          <a:xfrm>
            <a:off x="8366760" y="2011680"/>
            <a:ext cx="594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50" b="1" u="none" strike="noStrike">
                <a:solidFill>
                  <a:srgbClr val="FFFFFF"/>
                </a:solidFill>
                <a:effectLst/>
                <a:uFillTx/>
                <a:latin typeface="Calibri"/>
                <a:ea typeface="Calibri"/>
              </a:rPr>
              <a:t>R</a:t>
            </a:r>
            <a:endParaRPr lang="en-US" sz="1950" b="0" u="none" strike="noStrike">
              <a:solidFill>
                <a:srgbClr val="000000"/>
              </a:solidFill>
              <a:effectLst/>
              <a:uFillTx/>
              <a:latin typeface="Arial"/>
            </a:endParaRPr>
          </a:p>
        </p:txBody>
      </p:sp>
      <p:sp>
        <p:nvSpPr>
          <p:cNvPr id="97" name="Text 19"/>
          <p:cNvSpPr/>
          <p:nvPr/>
        </p:nvSpPr>
        <p:spPr>
          <a:xfrm>
            <a:off x="9098280" y="2084760"/>
            <a:ext cx="22399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2430"/>
                </a:solidFill>
                <a:effectLst/>
                <a:uFillTx/>
                <a:latin typeface="Cambria"/>
                <a:ea typeface="Cambria"/>
              </a:rPr>
              <a:t>Reviewer</a:t>
            </a:r>
            <a:endParaRPr lang="en-US" sz="1700" b="0" u="none" strike="noStrike">
              <a:solidFill>
                <a:srgbClr val="000000"/>
              </a:solidFill>
              <a:effectLst/>
              <a:uFillTx/>
              <a:latin typeface="Arial"/>
            </a:endParaRPr>
          </a:p>
        </p:txBody>
      </p:sp>
      <p:sp>
        <p:nvSpPr>
          <p:cNvPr id="98" name="Text 20"/>
          <p:cNvSpPr/>
          <p:nvPr/>
        </p:nvSpPr>
        <p:spPr>
          <a:xfrm>
            <a:off x="8366760" y="2834640"/>
            <a:ext cx="29714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tabLst>
                <a:tab pos="0" algn="l"/>
              </a:tabLst>
            </a:pPr>
            <a:r>
              <a:rPr lang="en-US" sz="1300" b="0" u="none" strike="noStrike">
                <a:solidFill>
                  <a:srgbClr val="5B6B77"/>
                </a:solidFill>
                <a:effectLst/>
                <a:uFillTx/>
                <a:latin typeface="Calibri"/>
                <a:ea typeface="Calibri"/>
              </a:rPr>
              <a:t>Verifies driver/company eligibility from submitted evidence before access is allowed</a:t>
            </a:r>
            <a:endParaRPr lang="en-US" sz="1300" b="0" u="none" strike="noStrike">
              <a:solidFill>
                <a:srgbClr val="000000"/>
              </a:solidFill>
              <a:effectLst/>
              <a:uFillTx/>
              <a:latin typeface="Arial"/>
            </a:endParaRPr>
          </a:p>
        </p:txBody>
      </p:sp>
      <p:sp>
        <p:nvSpPr>
          <p:cNvPr id="99" name="Shape 21"/>
          <p:cNvSpPr/>
          <p:nvPr/>
        </p:nvSpPr>
        <p:spPr>
          <a:xfrm>
            <a:off x="8366760" y="4160520"/>
            <a:ext cx="2971800" cy="360"/>
          </a:xfrm>
          <a:prstGeom prst="line">
            <a:avLst/>
          </a:prstGeom>
          <a:ln w="12700">
            <a:solidFill>
              <a:srgbClr val="D7DEE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00" name="Text 22"/>
          <p:cNvSpPr/>
          <p:nvPr/>
        </p:nvSpPr>
        <p:spPr>
          <a:xfrm>
            <a:off x="8366760" y="4389120"/>
            <a:ext cx="29714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tabLst>
                <a:tab pos="0" algn="l"/>
              </a:tabLst>
            </a:pPr>
            <a:r>
              <a:rPr lang="en-US" sz="1250" b="0" i="1" u="none" strike="noStrike">
                <a:solidFill>
                  <a:srgbClr val="21295C"/>
                </a:solidFill>
                <a:effectLst/>
                <a:uFillTx/>
                <a:latin typeface="Calibri"/>
                <a:ea typeface="Calibri"/>
              </a:rPr>
              <a:t>“I only need the evidence required to verify who is eligible to enter the system.”</a:t>
            </a:r>
            <a:endParaRPr lang="en-US" sz="1250" b="0" u="none" strike="noStrike">
              <a:solidFill>
                <a:srgbClr val="000000"/>
              </a:solidFill>
              <a:effectLst/>
              <a:uFillTx/>
              <a:latin typeface="Arial"/>
            </a:endParaRPr>
          </a:p>
        </p:txBody>
      </p:sp>
      <p:sp>
        <p:nvSpPr>
          <p:cNvPr id="101" name="Text 23"/>
          <p:cNvSpPr/>
          <p:nvPr/>
        </p:nvSpPr>
        <p:spPr>
          <a:xfrm>
            <a:off x="11521440" y="6446520"/>
            <a:ext cx="548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u="none" strike="noStrike">
                <a:solidFill>
                  <a:srgbClr val="5B6B77"/>
                </a:solidFill>
                <a:effectLst/>
                <a:uFillTx/>
                <a:latin typeface="Calibri"/>
                <a:ea typeface="Calibri"/>
              </a:rPr>
              <a:t>05</a:t>
            </a:r>
            <a:endParaRPr lang="en-US" sz="10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 name="Text 0"/>
          <p:cNvSpPr/>
          <p:nvPr/>
        </p:nvSpPr>
        <p:spPr>
          <a:xfrm>
            <a:off x="548640" y="36576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3FC1A0"/>
                </a:solidFill>
                <a:effectLst/>
                <a:uFillTx/>
                <a:latin typeface="Calibri"/>
                <a:ea typeface="Calibri"/>
              </a:rPr>
              <a:t>PRODUCT FEATURES</a:t>
            </a:r>
            <a:endParaRPr lang="en-US" sz="1200" b="0" u="none" strike="noStrike">
              <a:solidFill>
                <a:srgbClr val="000000"/>
              </a:solidFill>
              <a:effectLst/>
              <a:uFillTx/>
              <a:latin typeface="Arial"/>
            </a:endParaRPr>
          </a:p>
        </p:txBody>
      </p:sp>
      <p:sp>
        <p:nvSpPr>
          <p:cNvPr id="103" name="Text 1"/>
          <p:cNvSpPr/>
          <p:nvPr/>
        </p:nvSpPr>
        <p:spPr>
          <a:xfrm>
            <a:off x="548640" y="68580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B2430"/>
                </a:solidFill>
                <a:effectLst/>
                <a:uFillTx/>
                <a:latin typeface="Cambria"/>
                <a:ea typeface="Cambria"/>
              </a:rPr>
              <a:t>What's implemented, verified, and locked</a:t>
            </a:r>
            <a:endParaRPr lang="en-US" sz="3200" b="0" u="none" strike="noStrike">
              <a:solidFill>
                <a:srgbClr val="000000"/>
              </a:solidFill>
              <a:effectLst/>
              <a:uFillTx/>
              <a:latin typeface="Arial"/>
            </a:endParaRPr>
          </a:p>
        </p:txBody>
      </p:sp>
      <p:sp>
        <p:nvSpPr>
          <p:cNvPr id="104" name="Shape 2"/>
          <p:cNvSpPr/>
          <p:nvPr/>
        </p:nvSpPr>
        <p:spPr>
          <a:xfrm>
            <a:off x="548640" y="1783080"/>
            <a:ext cx="5440320" cy="1416960"/>
          </a:xfrm>
          <a:prstGeom prst="roundRect">
            <a:avLst>
              <a:gd name="adj" fmla="val 5161"/>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 name="Shape 3"/>
          <p:cNvSpPr/>
          <p:nvPr/>
        </p:nvSpPr>
        <p:spPr>
          <a:xfrm>
            <a:off x="822960" y="2057400"/>
            <a:ext cx="456840" cy="456840"/>
          </a:xfrm>
          <a:prstGeom prst="ellipse">
            <a:avLst/>
          </a:prstGeom>
          <a:solidFill>
            <a:srgbClr val="3FC1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 name="Text 4"/>
          <p:cNvSpPr/>
          <p:nvPr/>
        </p:nvSpPr>
        <p:spPr>
          <a:xfrm>
            <a:off x="822960" y="20574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ea typeface="Calibri"/>
              </a:rPr>
              <a:t>✓</a:t>
            </a:r>
            <a:endParaRPr lang="en-US" sz="1500" b="0" u="none" strike="noStrike">
              <a:solidFill>
                <a:srgbClr val="000000"/>
              </a:solidFill>
              <a:effectLst/>
              <a:uFillTx/>
              <a:latin typeface="Arial"/>
            </a:endParaRPr>
          </a:p>
        </p:txBody>
      </p:sp>
      <p:sp>
        <p:nvSpPr>
          <p:cNvPr id="107" name="Text 5"/>
          <p:cNvSpPr/>
          <p:nvPr/>
        </p:nvSpPr>
        <p:spPr>
          <a:xfrm>
            <a:off x="1463040" y="1984320"/>
            <a:ext cx="42516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1B2430"/>
                </a:solidFill>
                <a:effectLst/>
                <a:uFillTx/>
                <a:latin typeface="Cambria"/>
                <a:ea typeface="Cambria"/>
              </a:rPr>
              <a:t>Atomic claim marketplace</a:t>
            </a:r>
            <a:endParaRPr lang="en-US" sz="1450" b="0" u="none" strike="noStrike">
              <a:solidFill>
                <a:srgbClr val="000000"/>
              </a:solidFill>
              <a:effectLst/>
              <a:uFillTx/>
              <a:latin typeface="Arial"/>
            </a:endParaRPr>
          </a:p>
        </p:txBody>
      </p:sp>
      <p:sp>
        <p:nvSpPr>
          <p:cNvPr id="108" name="Text 6"/>
          <p:cNvSpPr/>
          <p:nvPr/>
        </p:nvSpPr>
        <p:spPr>
          <a:xfrm>
            <a:off x="1463040" y="2377440"/>
            <a:ext cx="425160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00"/>
              </a:lnSpc>
              <a:tabLst>
                <a:tab pos="0" algn="l"/>
              </a:tabLst>
            </a:pPr>
            <a:r>
              <a:rPr lang="en-US" sz="1150" b="0" u="none" strike="noStrike">
                <a:solidFill>
                  <a:srgbClr val="5B6B77"/>
                </a:solidFill>
                <a:effectLst/>
                <a:uFillTx/>
                <a:latin typeface="Calibri"/>
                <a:ea typeface="Calibri"/>
              </a:rPr>
              <a:t>Only one driver can successfully claim a trip; a driver can have only one active trip at a time.</a:t>
            </a:r>
            <a:endParaRPr lang="en-US" sz="1150" b="0" u="none" strike="noStrike">
              <a:solidFill>
                <a:srgbClr val="000000"/>
              </a:solidFill>
              <a:effectLst/>
              <a:uFillTx/>
              <a:latin typeface="Arial"/>
            </a:endParaRPr>
          </a:p>
        </p:txBody>
      </p:sp>
      <p:sp>
        <p:nvSpPr>
          <p:cNvPr id="109" name="Shape 7"/>
          <p:cNvSpPr/>
          <p:nvPr/>
        </p:nvSpPr>
        <p:spPr>
          <a:xfrm>
            <a:off x="6217920" y="1783080"/>
            <a:ext cx="5440320" cy="1416960"/>
          </a:xfrm>
          <a:prstGeom prst="roundRect">
            <a:avLst>
              <a:gd name="adj" fmla="val 5161"/>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0" name="Shape 8"/>
          <p:cNvSpPr/>
          <p:nvPr/>
        </p:nvSpPr>
        <p:spPr>
          <a:xfrm>
            <a:off x="6492240" y="2057400"/>
            <a:ext cx="456840" cy="456840"/>
          </a:xfrm>
          <a:prstGeom prst="ellipse">
            <a:avLst/>
          </a:prstGeom>
          <a:solidFill>
            <a:srgbClr val="3FC1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 name="Text 9"/>
          <p:cNvSpPr/>
          <p:nvPr/>
        </p:nvSpPr>
        <p:spPr>
          <a:xfrm>
            <a:off x="6492240" y="20574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ea typeface="Calibri"/>
              </a:rPr>
              <a:t>✓</a:t>
            </a:r>
            <a:endParaRPr lang="en-US" sz="1500" b="0" u="none" strike="noStrike">
              <a:solidFill>
                <a:srgbClr val="000000"/>
              </a:solidFill>
              <a:effectLst/>
              <a:uFillTx/>
              <a:latin typeface="Arial"/>
            </a:endParaRPr>
          </a:p>
        </p:txBody>
      </p:sp>
      <p:sp>
        <p:nvSpPr>
          <p:cNvPr id="112" name="Text 10"/>
          <p:cNvSpPr/>
          <p:nvPr/>
        </p:nvSpPr>
        <p:spPr>
          <a:xfrm>
            <a:off x="7132320" y="1984320"/>
            <a:ext cx="42516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1B2430"/>
                </a:solidFill>
                <a:effectLst/>
                <a:uFillTx/>
                <a:latin typeface="Cambria"/>
                <a:ea typeface="Cambria"/>
              </a:rPr>
              <a:t>Connected delivery lifecycle</a:t>
            </a:r>
            <a:endParaRPr lang="en-US" sz="1450" b="0" u="none" strike="noStrike">
              <a:solidFill>
                <a:srgbClr val="000000"/>
              </a:solidFill>
              <a:effectLst/>
              <a:uFillTx/>
              <a:latin typeface="Arial"/>
            </a:endParaRPr>
          </a:p>
        </p:txBody>
      </p:sp>
      <p:sp>
        <p:nvSpPr>
          <p:cNvPr id="113" name="Text 11"/>
          <p:cNvSpPr/>
          <p:nvPr/>
        </p:nvSpPr>
        <p:spPr>
          <a:xfrm>
            <a:off x="7132320" y="2377440"/>
            <a:ext cx="425160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00"/>
              </a:lnSpc>
              <a:tabLst>
                <a:tab pos="0" algn="l"/>
              </a:tabLst>
            </a:pPr>
            <a:r>
              <a:rPr lang="en-US" sz="1150" b="0" u="none" strike="noStrike">
                <a:solidFill>
                  <a:srgbClr val="5B6B77"/>
                </a:solidFill>
                <a:effectLst/>
                <a:uFillTx/>
                <a:latin typeface="Calibri"/>
                <a:ea typeface="Calibri"/>
              </a:rPr>
              <a:t>The sender company, driver, and trip-specific receiver move the trip through required delivery stages.</a:t>
            </a:r>
            <a:endParaRPr lang="en-US" sz="1150" b="0" u="none" strike="noStrike">
              <a:solidFill>
                <a:srgbClr val="000000"/>
              </a:solidFill>
              <a:effectLst/>
              <a:uFillTx/>
              <a:latin typeface="Arial"/>
            </a:endParaRPr>
          </a:p>
        </p:txBody>
      </p:sp>
      <p:sp>
        <p:nvSpPr>
          <p:cNvPr id="114" name="Shape 12"/>
          <p:cNvSpPr/>
          <p:nvPr/>
        </p:nvSpPr>
        <p:spPr>
          <a:xfrm>
            <a:off x="548640" y="3337560"/>
            <a:ext cx="5440320" cy="1416960"/>
          </a:xfrm>
          <a:prstGeom prst="roundRect">
            <a:avLst>
              <a:gd name="adj" fmla="val 5161"/>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 name="Shape 13"/>
          <p:cNvSpPr/>
          <p:nvPr/>
        </p:nvSpPr>
        <p:spPr>
          <a:xfrm>
            <a:off x="822960" y="3611880"/>
            <a:ext cx="456840" cy="456840"/>
          </a:xfrm>
          <a:prstGeom prst="ellipse">
            <a:avLst/>
          </a:prstGeom>
          <a:solidFill>
            <a:srgbClr val="3FC1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 name="Text 14"/>
          <p:cNvSpPr/>
          <p:nvPr/>
        </p:nvSpPr>
        <p:spPr>
          <a:xfrm>
            <a:off x="822960" y="361188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ea typeface="Calibri"/>
              </a:rPr>
              <a:t>✓</a:t>
            </a:r>
            <a:endParaRPr lang="en-US" sz="1500" b="0" u="none" strike="noStrike">
              <a:solidFill>
                <a:srgbClr val="000000"/>
              </a:solidFill>
              <a:effectLst/>
              <a:uFillTx/>
              <a:latin typeface="Arial"/>
            </a:endParaRPr>
          </a:p>
        </p:txBody>
      </p:sp>
      <p:sp>
        <p:nvSpPr>
          <p:cNvPr id="117" name="Text 15"/>
          <p:cNvSpPr/>
          <p:nvPr/>
        </p:nvSpPr>
        <p:spPr>
          <a:xfrm>
            <a:off x="1463040" y="3538800"/>
            <a:ext cx="42516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1B2430"/>
                </a:solidFill>
                <a:effectLst/>
                <a:uFillTx/>
                <a:latin typeface="Cambria"/>
                <a:ea typeface="Cambria"/>
              </a:rPr>
              <a:t>Evidence &amp; event timeline</a:t>
            </a:r>
            <a:endParaRPr lang="en-US" sz="1450" b="0" u="none" strike="noStrike">
              <a:solidFill>
                <a:srgbClr val="000000"/>
              </a:solidFill>
              <a:effectLst/>
              <a:uFillTx/>
              <a:latin typeface="Arial"/>
            </a:endParaRPr>
          </a:p>
        </p:txBody>
      </p:sp>
      <p:sp>
        <p:nvSpPr>
          <p:cNvPr id="118" name="Text 16"/>
          <p:cNvSpPr/>
          <p:nvPr/>
        </p:nvSpPr>
        <p:spPr>
          <a:xfrm>
            <a:off x="1463040" y="3931920"/>
            <a:ext cx="425160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00"/>
              </a:lnSpc>
              <a:tabLst>
                <a:tab pos="0" algn="l"/>
              </a:tabLst>
            </a:pPr>
            <a:r>
              <a:rPr lang="en-US" sz="1150" b="0" u="none" strike="noStrike">
                <a:solidFill>
                  <a:srgbClr val="5B6B77"/>
                </a:solidFill>
                <a:effectLst/>
                <a:uFillTx/>
                <a:latin typeface="Calibri"/>
                <a:ea typeface="Calibri"/>
              </a:rPr>
              <a:t>Timestamped delivery stages plus company/driver-uploaded photo evidence.</a:t>
            </a:r>
            <a:endParaRPr lang="en-US" sz="1150" b="0" u="none" strike="noStrike">
              <a:solidFill>
                <a:srgbClr val="000000"/>
              </a:solidFill>
              <a:effectLst/>
              <a:uFillTx/>
              <a:latin typeface="Arial"/>
            </a:endParaRPr>
          </a:p>
        </p:txBody>
      </p:sp>
      <p:sp>
        <p:nvSpPr>
          <p:cNvPr id="119" name="Shape 17"/>
          <p:cNvSpPr/>
          <p:nvPr/>
        </p:nvSpPr>
        <p:spPr>
          <a:xfrm>
            <a:off x="6217920" y="3337560"/>
            <a:ext cx="5440320" cy="1416960"/>
          </a:xfrm>
          <a:prstGeom prst="roundRect">
            <a:avLst>
              <a:gd name="adj" fmla="val 5161"/>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0" name="Shape 18"/>
          <p:cNvSpPr/>
          <p:nvPr/>
        </p:nvSpPr>
        <p:spPr>
          <a:xfrm>
            <a:off x="6492240" y="3611880"/>
            <a:ext cx="456840" cy="456840"/>
          </a:xfrm>
          <a:prstGeom prst="ellipse">
            <a:avLst/>
          </a:prstGeom>
          <a:solidFill>
            <a:srgbClr val="3FC1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 name="Text 19"/>
          <p:cNvSpPr/>
          <p:nvPr/>
        </p:nvSpPr>
        <p:spPr>
          <a:xfrm>
            <a:off x="6492240" y="361188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ea typeface="Calibri"/>
              </a:rPr>
              <a:t>✓</a:t>
            </a:r>
            <a:endParaRPr lang="en-US" sz="1500" b="0" u="none" strike="noStrike">
              <a:solidFill>
                <a:srgbClr val="000000"/>
              </a:solidFill>
              <a:effectLst/>
              <a:uFillTx/>
              <a:latin typeface="Arial"/>
            </a:endParaRPr>
          </a:p>
        </p:txBody>
      </p:sp>
      <p:sp>
        <p:nvSpPr>
          <p:cNvPr id="122" name="Text 20"/>
          <p:cNvSpPr/>
          <p:nvPr/>
        </p:nvSpPr>
        <p:spPr>
          <a:xfrm>
            <a:off x="7132320" y="3538800"/>
            <a:ext cx="42516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1B2430"/>
                </a:solidFill>
                <a:effectLst/>
                <a:uFillTx/>
                <a:latin typeface="Cambria"/>
                <a:ea typeface="Cambria"/>
              </a:rPr>
              <a:t>Sender ≠ Receiver integrity rule</a:t>
            </a:r>
            <a:endParaRPr lang="en-US" sz="1450" b="0" u="none" strike="noStrike">
              <a:solidFill>
                <a:srgbClr val="000000"/>
              </a:solidFill>
              <a:effectLst/>
              <a:uFillTx/>
              <a:latin typeface="Arial"/>
            </a:endParaRPr>
          </a:p>
        </p:txBody>
      </p:sp>
      <p:sp>
        <p:nvSpPr>
          <p:cNvPr id="123" name="Text 21"/>
          <p:cNvSpPr/>
          <p:nvPr/>
        </p:nvSpPr>
        <p:spPr>
          <a:xfrm>
            <a:off x="7132320" y="3931920"/>
            <a:ext cx="425160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00"/>
              </a:lnSpc>
              <a:tabLst>
                <a:tab pos="0" algn="l"/>
              </a:tabLst>
            </a:pPr>
            <a:r>
              <a:rPr lang="en-US" sz="1150" b="0" u="none" strike="noStrike">
                <a:solidFill>
                  <a:srgbClr val="5B6B77"/>
                </a:solidFill>
                <a:effectLst/>
                <a:uFillTx/>
                <a:latin typeface="Calibri"/>
                <a:ea typeface="Calibri"/>
              </a:rPr>
              <a:t>Sender and receiver must be different companies on the same trip.</a:t>
            </a:r>
            <a:endParaRPr lang="en-US" sz="1150" b="0" u="none" strike="noStrike">
              <a:solidFill>
                <a:srgbClr val="000000"/>
              </a:solidFill>
              <a:effectLst/>
              <a:uFillTx/>
              <a:latin typeface="Arial"/>
            </a:endParaRPr>
          </a:p>
        </p:txBody>
      </p:sp>
      <p:sp>
        <p:nvSpPr>
          <p:cNvPr id="124" name="Shape 22"/>
          <p:cNvSpPr/>
          <p:nvPr/>
        </p:nvSpPr>
        <p:spPr>
          <a:xfrm>
            <a:off x="548640" y="4892040"/>
            <a:ext cx="5440320" cy="1416960"/>
          </a:xfrm>
          <a:prstGeom prst="roundRect">
            <a:avLst>
              <a:gd name="adj" fmla="val 5161"/>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5" name="Shape 23"/>
          <p:cNvSpPr/>
          <p:nvPr/>
        </p:nvSpPr>
        <p:spPr>
          <a:xfrm>
            <a:off x="822960" y="5166360"/>
            <a:ext cx="456840" cy="456840"/>
          </a:xfrm>
          <a:prstGeom prst="ellipse">
            <a:avLst/>
          </a:prstGeom>
          <a:solidFill>
            <a:srgbClr val="3FC1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 name="Text 24"/>
          <p:cNvSpPr/>
          <p:nvPr/>
        </p:nvSpPr>
        <p:spPr>
          <a:xfrm>
            <a:off x="822960" y="516636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ea typeface="Calibri"/>
              </a:rPr>
              <a:t>✓</a:t>
            </a:r>
            <a:endParaRPr lang="en-US" sz="1500" b="0" u="none" strike="noStrike">
              <a:solidFill>
                <a:srgbClr val="000000"/>
              </a:solidFill>
              <a:effectLst/>
              <a:uFillTx/>
              <a:latin typeface="Arial"/>
            </a:endParaRPr>
          </a:p>
        </p:txBody>
      </p:sp>
      <p:sp>
        <p:nvSpPr>
          <p:cNvPr id="127" name="Text 25"/>
          <p:cNvSpPr/>
          <p:nvPr/>
        </p:nvSpPr>
        <p:spPr>
          <a:xfrm>
            <a:off x="1463040" y="5093280"/>
            <a:ext cx="42516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1B2430"/>
                </a:solidFill>
                <a:effectLst/>
                <a:uFillTx/>
                <a:latin typeface="Cambria"/>
                <a:ea typeface="Cambria"/>
              </a:rPr>
              <a:t>Company &amp; Driver Photo Evidence</a:t>
            </a:r>
            <a:endParaRPr lang="en-US" sz="1450" b="0" u="none" strike="noStrike">
              <a:solidFill>
                <a:srgbClr val="000000"/>
              </a:solidFill>
              <a:effectLst/>
              <a:uFillTx/>
              <a:latin typeface="Arial"/>
            </a:endParaRPr>
          </a:p>
        </p:txBody>
      </p:sp>
      <p:sp>
        <p:nvSpPr>
          <p:cNvPr id="128" name="Text 26"/>
          <p:cNvSpPr/>
          <p:nvPr/>
        </p:nvSpPr>
        <p:spPr>
          <a:xfrm>
            <a:off x="1463040" y="5486400"/>
            <a:ext cx="425160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00"/>
              </a:lnSpc>
              <a:tabLst>
                <a:tab pos="0" algn="l"/>
              </a:tabLst>
            </a:pPr>
            <a:r>
              <a:rPr lang="en-US" sz="1150" b="0" u="none" strike="noStrike">
                <a:solidFill>
                  <a:srgbClr val="5B6B77"/>
                </a:solidFill>
                <a:effectLst/>
                <a:uFillTx/>
                <a:latin typeface="Calibri"/>
                <a:ea typeface="Calibri"/>
              </a:rPr>
              <a:t>Company and driver can upload delivery photos that relevant parties can see as recorded evidence.</a:t>
            </a:r>
            <a:endParaRPr lang="en-US" sz="1150" b="0" u="none" strike="noStrike">
              <a:solidFill>
                <a:srgbClr val="000000"/>
              </a:solidFill>
              <a:effectLst/>
              <a:uFillTx/>
              <a:latin typeface="Arial"/>
            </a:endParaRPr>
          </a:p>
        </p:txBody>
      </p:sp>
      <p:sp>
        <p:nvSpPr>
          <p:cNvPr id="129" name="Shape 27"/>
          <p:cNvSpPr/>
          <p:nvPr/>
        </p:nvSpPr>
        <p:spPr>
          <a:xfrm>
            <a:off x="6217920" y="4892040"/>
            <a:ext cx="5440320" cy="1416960"/>
          </a:xfrm>
          <a:prstGeom prst="roundRect">
            <a:avLst>
              <a:gd name="adj" fmla="val 5161"/>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 name="Shape 28"/>
          <p:cNvSpPr/>
          <p:nvPr/>
        </p:nvSpPr>
        <p:spPr>
          <a:xfrm>
            <a:off x="6492240" y="5166360"/>
            <a:ext cx="456840" cy="456840"/>
          </a:xfrm>
          <a:prstGeom prst="ellipse">
            <a:avLst/>
          </a:prstGeom>
          <a:solidFill>
            <a:srgbClr val="3FC1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 name="Text 29"/>
          <p:cNvSpPr/>
          <p:nvPr/>
        </p:nvSpPr>
        <p:spPr>
          <a:xfrm>
            <a:off x="6492240" y="516636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ea typeface="Calibri"/>
              </a:rPr>
              <a:t>✓</a:t>
            </a:r>
            <a:endParaRPr lang="en-US" sz="1500" b="0" u="none" strike="noStrike">
              <a:solidFill>
                <a:srgbClr val="000000"/>
              </a:solidFill>
              <a:effectLst/>
              <a:uFillTx/>
              <a:latin typeface="Arial"/>
            </a:endParaRPr>
          </a:p>
        </p:txBody>
      </p:sp>
      <p:sp>
        <p:nvSpPr>
          <p:cNvPr id="132" name="Text 30"/>
          <p:cNvSpPr/>
          <p:nvPr/>
        </p:nvSpPr>
        <p:spPr>
          <a:xfrm>
            <a:off x="7132320" y="5093280"/>
            <a:ext cx="42516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1B2430"/>
                </a:solidFill>
                <a:effectLst/>
                <a:uFillTx/>
                <a:latin typeface="Cambria"/>
                <a:ea typeface="Cambria"/>
              </a:rPr>
              <a:t>AI evidence summary</a:t>
            </a:r>
            <a:endParaRPr lang="en-US" sz="1450" b="0" u="none" strike="noStrike">
              <a:solidFill>
                <a:srgbClr val="000000"/>
              </a:solidFill>
              <a:effectLst/>
              <a:uFillTx/>
              <a:latin typeface="Arial"/>
            </a:endParaRPr>
          </a:p>
        </p:txBody>
      </p:sp>
      <p:sp>
        <p:nvSpPr>
          <p:cNvPr id="133" name="Text 31"/>
          <p:cNvSpPr/>
          <p:nvPr/>
        </p:nvSpPr>
        <p:spPr>
          <a:xfrm>
            <a:off x="7132320" y="5486400"/>
            <a:ext cx="425160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00"/>
              </a:lnSpc>
              <a:tabLst>
                <a:tab pos="0" algn="l"/>
              </a:tabLst>
            </a:pPr>
            <a:r>
              <a:rPr lang="en-US" sz="1150" b="0" u="none" strike="noStrike">
                <a:solidFill>
                  <a:srgbClr val="5B6B77"/>
                </a:solidFill>
                <a:effectLst/>
                <a:uFillTx/>
                <a:latin typeface="Calibri"/>
                <a:ea typeface="Calibri"/>
              </a:rPr>
              <a:t>Automatic post-completion summary grounded in the trip's own recorded events.</a:t>
            </a:r>
            <a:endParaRPr lang="en-US" sz="1150" b="0" u="none" strike="noStrike">
              <a:solidFill>
                <a:srgbClr val="000000"/>
              </a:solidFill>
              <a:effectLst/>
              <a:uFillTx/>
              <a:latin typeface="Arial"/>
            </a:endParaRPr>
          </a:p>
        </p:txBody>
      </p:sp>
      <p:sp>
        <p:nvSpPr>
          <p:cNvPr id="134" name="Text 32"/>
          <p:cNvSpPr/>
          <p:nvPr/>
        </p:nvSpPr>
        <p:spPr>
          <a:xfrm>
            <a:off x="11521440" y="6446520"/>
            <a:ext cx="548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u="none" strike="noStrike">
                <a:solidFill>
                  <a:srgbClr val="5B6B77"/>
                </a:solidFill>
                <a:effectLst/>
                <a:uFillTx/>
                <a:latin typeface="Calibri"/>
                <a:ea typeface="Calibri"/>
              </a:rPr>
              <a:t>06</a:t>
            </a:r>
            <a:endParaRPr lang="en-US" sz="10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135" name="Text 0"/>
          <p:cNvSpPr/>
          <p:nvPr/>
        </p:nvSpPr>
        <p:spPr>
          <a:xfrm>
            <a:off x="548640" y="36576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3FC1A0"/>
                </a:solidFill>
                <a:effectLst/>
                <a:uFillTx/>
                <a:latin typeface="Calibri"/>
                <a:ea typeface="Calibri"/>
              </a:rPr>
              <a:t>TECHNICAL ARCHITECTURE</a:t>
            </a:r>
            <a:endParaRPr lang="en-US" sz="1200" b="0" u="none" strike="noStrike">
              <a:solidFill>
                <a:srgbClr val="FFFFFF"/>
              </a:solidFill>
              <a:effectLst/>
              <a:uFillTx/>
              <a:latin typeface="Arial"/>
            </a:endParaRPr>
          </a:p>
        </p:txBody>
      </p:sp>
      <p:sp>
        <p:nvSpPr>
          <p:cNvPr id="136" name="Text 1"/>
          <p:cNvSpPr/>
          <p:nvPr/>
        </p:nvSpPr>
        <p:spPr>
          <a:xfrm>
            <a:off x="548640" y="68580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FFFFFF"/>
                </a:solidFill>
                <a:effectLst/>
                <a:uFillTx/>
                <a:latin typeface="Cambria"/>
                <a:ea typeface="Cambria"/>
              </a:rPr>
              <a:t>Portal separation over a shared, protected core</a:t>
            </a:r>
            <a:endParaRPr lang="en-US" sz="3200" b="0" u="none" strike="noStrike">
              <a:solidFill>
                <a:srgbClr val="FFFFFF"/>
              </a:solidFill>
              <a:effectLst/>
              <a:uFillTx/>
              <a:latin typeface="Arial"/>
            </a:endParaRPr>
          </a:p>
        </p:txBody>
      </p:sp>
      <p:sp>
        <p:nvSpPr>
          <p:cNvPr id="137" name="Shape 2"/>
          <p:cNvSpPr/>
          <p:nvPr/>
        </p:nvSpPr>
        <p:spPr>
          <a:xfrm>
            <a:off x="914400" y="1737360"/>
            <a:ext cx="3291480" cy="822600"/>
          </a:xfrm>
          <a:prstGeom prst="roundRect">
            <a:avLst>
              <a:gd name="adj" fmla="val 8889"/>
            </a:avLst>
          </a:prstGeom>
          <a:solidFill>
            <a:srgbClr val="065A8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8" name="Text 3"/>
          <p:cNvSpPr/>
          <p:nvPr/>
        </p:nvSpPr>
        <p:spPr>
          <a:xfrm>
            <a:off x="914400" y="1737360"/>
            <a:ext cx="3291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ea typeface="Calibri"/>
              </a:rPr>
              <a:t>Company Portal</a:t>
            </a:r>
            <a:endParaRPr lang="en-US" sz="1500" b="0" u="none" strike="noStrike">
              <a:solidFill>
                <a:srgbClr val="FFFFFF"/>
              </a:solidFill>
              <a:effectLst/>
              <a:uFillTx/>
              <a:latin typeface="Arial"/>
            </a:endParaRPr>
          </a:p>
        </p:txBody>
      </p:sp>
      <p:sp>
        <p:nvSpPr>
          <p:cNvPr id="139" name="Shape 4"/>
          <p:cNvSpPr/>
          <p:nvPr/>
        </p:nvSpPr>
        <p:spPr>
          <a:xfrm>
            <a:off x="4526280" y="1737360"/>
            <a:ext cx="3291480" cy="822600"/>
          </a:xfrm>
          <a:prstGeom prst="roundRect">
            <a:avLst>
              <a:gd name="adj" fmla="val 8889"/>
            </a:avLst>
          </a:prstGeom>
          <a:solidFill>
            <a:srgbClr val="1C729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0" name="Text 5"/>
          <p:cNvSpPr/>
          <p:nvPr/>
        </p:nvSpPr>
        <p:spPr>
          <a:xfrm>
            <a:off x="4526280" y="1737360"/>
            <a:ext cx="3291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ea typeface="Calibri"/>
              </a:rPr>
              <a:t>Driver Portal</a:t>
            </a:r>
            <a:endParaRPr lang="en-US" sz="1500" b="0" u="none" strike="noStrike">
              <a:solidFill>
                <a:srgbClr val="FFFFFF"/>
              </a:solidFill>
              <a:effectLst/>
              <a:uFillTx/>
              <a:latin typeface="Arial"/>
            </a:endParaRPr>
          </a:p>
        </p:txBody>
      </p:sp>
      <p:sp>
        <p:nvSpPr>
          <p:cNvPr id="141" name="Shape 6"/>
          <p:cNvSpPr/>
          <p:nvPr/>
        </p:nvSpPr>
        <p:spPr>
          <a:xfrm>
            <a:off x="8138160" y="1737360"/>
            <a:ext cx="3291480" cy="822600"/>
          </a:xfrm>
          <a:prstGeom prst="roundRect">
            <a:avLst>
              <a:gd name="adj" fmla="val 8889"/>
            </a:avLst>
          </a:prstGeom>
          <a:solidFill>
            <a:srgbClr val="3B4B8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2" name="Text 7"/>
          <p:cNvSpPr/>
          <p:nvPr/>
        </p:nvSpPr>
        <p:spPr>
          <a:xfrm>
            <a:off x="8138160" y="1737360"/>
            <a:ext cx="3291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ea typeface="Calibri"/>
              </a:rPr>
              <a:t>Reviewer Portal — Identity Verification</a:t>
            </a:r>
            <a:endParaRPr lang="en-US" sz="1500" b="0" u="none" strike="noStrike">
              <a:solidFill>
                <a:srgbClr val="FFFFFF"/>
              </a:solidFill>
              <a:effectLst/>
              <a:uFillTx/>
              <a:latin typeface="Arial"/>
            </a:endParaRPr>
          </a:p>
        </p:txBody>
      </p:sp>
      <p:sp>
        <p:nvSpPr>
          <p:cNvPr id="143" name="Shape 8"/>
          <p:cNvSpPr/>
          <p:nvPr/>
        </p:nvSpPr>
        <p:spPr>
          <a:xfrm>
            <a:off x="2560320" y="2560320"/>
            <a:ext cx="360" cy="457200"/>
          </a:xfrm>
          <a:prstGeom prst="line">
            <a:avLst/>
          </a:prstGeom>
          <a:ln w="25400">
            <a:solidFill>
              <a:srgbClr val="6B7BB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44" name="Shape 9"/>
          <p:cNvSpPr/>
          <p:nvPr/>
        </p:nvSpPr>
        <p:spPr>
          <a:xfrm>
            <a:off x="6172200" y="2560320"/>
            <a:ext cx="360" cy="457200"/>
          </a:xfrm>
          <a:prstGeom prst="line">
            <a:avLst/>
          </a:prstGeom>
          <a:ln w="25400">
            <a:solidFill>
              <a:srgbClr val="6B7BB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45" name="Shape 10"/>
          <p:cNvSpPr/>
          <p:nvPr/>
        </p:nvSpPr>
        <p:spPr>
          <a:xfrm>
            <a:off x="9784080" y="2560320"/>
            <a:ext cx="360" cy="457200"/>
          </a:xfrm>
          <a:prstGeom prst="line">
            <a:avLst/>
          </a:prstGeom>
          <a:ln w="25400">
            <a:solidFill>
              <a:srgbClr val="6B7BB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46" name="Shape 11"/>
          <p:cNvSpPr/>
          <p:nvPr/>
        </p:nvSpPr>
        <p:spPr>
          <a:xfrm>
            <a:off x="914400" y="3063240"/>
            <a:ext cx="10332360" cy="1051200"/>
          </a:xfrm>
          <a:prstGeom prst="roundRect">
            <a:avLst>
              <a:gd name="adj" fmla="val 6957"/>
            </a:avLst>
          </a:prstGeom>
          <a:solidFill>
            <a:srgbClr val="2C376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7" name="Text 12"/>
          <p:cNvSpPr/>
          <p:nvPr/>
        </p:nvSpPr>
        <p:spPr>
          <a:xfrm>
            <a:off x="1097280" y="3200400"/>
            <a:ext cx="99666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FFFFFF"/>
                </a:solidFill>
                <a:effectLst/>
                <a:uFillTx/>
                <a:latin typeface="Calibri"/>
                <a:ea typeface="Calibri"/>
              </a:rPr>
              <a:t>Shared API / Business Rules  ·  Auth &amp; Role Resolution  ·  Trip &amp; Evidence Data Model</a:t>
            </a:r>
            <a:endParaRPr lang="en-US" sz="1400" b="0" u="none" strike="noStrike">
              <a:solidFill>
                <a:srgbClr val="FFFFFF"/>
              </a:solidFill>
              <a:effectLst/>
              <a:uFillTx/>
              <a:latin typeface="Arial"/>
            </a:endParaRPr>
          </a:p>
        </p:txBody>
      </p:sp>
      <p:sp>
        <p:nvSpPr>
          <p:cNvPr id="148" name="Text 13"/>
          <p:cNvSpPr/>
          <p:nvPr/>
        </p:nvSpPr>
        <p:spPr>
          <a:xfrm>
            <a:off x="1097280" y="3566160"/>
            <a:ext cx="99666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8DE"/>
                </a:solidFill>
                <a:effectLst/>
                <a:uFillTx/>
                <a:latin typeface="Calibri"/>
                <a:ea typeface="Calibri"/>
              </a:rPr>
              <a:t>Deterministic access, claiming, and delivery rules — one active trip per driver; reviewer access is limited to verification evidence</a:t>
            </a:r>
            <a:endParaRPr lang="en-US" sz="1150" b="0" u="none" strike="noStrike">
              <a:solidFill>
                <a:srgbClr val="FFFFFF"/>
              </a:solidFill>
              <a:effectLst/>
              <a:uFillTx/>
              <a:latin typeface="Arial"/>
            </a:endParaRPr>
          </a:p>
        </p:txBody>
      </p:sp>
      <p:sp>
        <p:nvSpPr>
          <p:cNvPr id="149" name="Shape 14"/>
          <p:cNvSpPr/>
          <p:nvPr/>
        </p:nvSpPr>
        <p:spPr>
          <a:xfrm>
            <a:off x="6080760" y="4114800"/>
            <a:ext cx="360" cy="411480"/>
          </a:xfrm>
          <a:prstGeom prst="line">
            <a:avLst/>
          </a:prstGeom>
          <a:ln w="25400">
            <a:solidFill>
              <a:srgbClr val="6B7BB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50" name="Shape 15"/>
          <p:cNvSpPr/>
          <p:nvPr/>
        </p:nvSpPr>
        <p:spPr>
          <a:xfrm>
            <a:off x="914400" y="4526280"/>
            <a:ext cx="10332360" cy="1051200"/>
          </a:xfrm>
          <a:prstGeom prst="roundRect">
            <a:avLst>
              <a:gd name="adj" fmla="val 6957"/>
            </a:avLst>
          </a:prstGeom>
          <a:solidFill>
            <a:srgbClr val="21295C"/>
          </a:solidFill>
          <a:ln w="15875">
            <a:solidFill>
              <a:srgbClr val="3FC1A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1" name="Text 16"/>
          <p:cNvSpPr/>
          <p:nvPr/>
        </p:nvSpPr>
        <p:spPr>
          <a:xfrm>
            <a:off x="1097280" y="4645080"/>
            <a:ext cx="4571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3FC1A0"/>
                </a:solidFill>
                <a:effectLst/>
                <a:uFillTx/>
                <a:latin typeface="Calibri"/>
                <a:ea typeface="Calibri"/>
              </a:rPr>
              <a:t>Protected Boundary</a:t>
            </a:r>
            <a:endParaRPr lang="en-US" sz="1300" b="0" u="none" strike="noStrike">
              <a:solidFill>
                <a:srgbClr val="FFFFFF"/>
              </a:solidFill>
              <a:effectLst/>
              <a:uFillTx/>
              <a:latin typeface="Arial"/>
            </a:endParaRPr>
          </a:p>
        </p:txBody>
      </p:sp>
      <p:sp>
        <p:nvSpPr>
          <p:cNvPr id="152" name="Text 17"/>
          <p:cNvSpPr/>
          <p:nvPr/>
        </p:nvSpPr>
        <p:spPr>
          <a:xfrm>
            <a:off x="1097280" y="4956120"/>
            <a:ext cx="99666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00"/>
              </a:lnSpc>
              <a:tabLst>
                <a:tab pos="0" algn="l"/>
              </a:tabLst>
            </a:pPr>
            <a:r>
              <a:rPr lang="en-US" sz="1150" b="0" u="none" strike="noStrike">
                <a:solidFill>
                  <a:srgbClr val="CADCFC"/>
                </a:solidFill>
                <a:effectLst/>
                <a:uFillTx/>
                <a:latin typeface="Calibri"/>
                <a:ea typeface="Calibri"/>
              </a:rPr>
              <a:t>RLS &amp; security architecture  ·  API contracts  ·  schema/data model  ·  sender/receiver trip rules  ·  reviewer isolation</a:t>
            </a:r>
            <a:endParaRPr lang="en-US" sz="1150" b="0" u="none" strike="noStrike">
              <a:solidFill>
                <a:srgbClr val="FFFFFF"/>
              </a:solidFill>
              <a:effectLst/>
              <a:uFillTx/>
              <a:latin typeface="Arial"/>
            </a:endParaRPr>
          </a:p>
        </p:txBody>
      </p:sp>
      <p:sp>
        <p:nvSpPr>
          <p:cNvPr id="153" name="Text 18"/>
          <p:cNvSpPr/>
          <p:nvPr/>
        </p:nvSpPr>
        <p:spPr>
          <a:xfrm>
            <a:off x="914400" y="5943600"/>
            <a:ext cx="10332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i="1" u="none" strike="noStrike">
                <a:solidFill>
                  <a:srgbClr val="8FA3C9"/>
                </a:solidFill>
                <a:effectLst/>
                <a:uFillTx/>
                <a:latin typeface="Calibri"/>
                <a:ea typeface="Calibri"/>
              </a:rPr>
              <a:t>Reviewer cannot access trips or operational delivery data; only submitted verification evidence is in scope.</a:t>
            </a:r>
            <a:endParaRPr lang="en-US" sz="1150" b="0" u="none" strike="noStrike">
              <a:solidFill>
                <a:srgbClr val="FFFFFF"/>
              </a:solidFill>
              <a:effectLst/>
              <a:uFillTx/>
              <a:latin typeface="Arial"/>
            </a:endParaRPr>
          </a:p>
        </p:txBody>
      </p:sp>
      <p:sp>
        <p:nvSpPr>
          <p:cNvPr id="154" name="Text 19"/>
          <p:cNvSpPr/>
          <p:nvPr/>
        </p:nvSpPr>
        <p:spPr>
          <a:xfrm>
            <a:off x="11521440" y="6446520"/>
            <a:ext cx="548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u="none" strike="noStrike">
                <a:solidFill>
                  <a:srgbClr val="5B6B77"/>
                </a:solidFill>
                <a:effectLst/>
                <a:uFillTx/>
                <a:latin typeface="Calibri"/>
                <a:ea typeface="Calibri"/>
              </a:rPr>
              <a:t>07</a:t>
            </a:r>
            <a:endParaRPr lang="en-US" sz="1000" b="0" u="none" strike="noStrike">
              <a:solidFill>
                <a:srgbClr val="FFFFFF"/>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5" name="Text 0"/>
          <p:cNvSpPr/>
          <p:nvPr/>
        </p:nvSpPr>
        <p:spPr>
          <a:xfrm>
            <a:off x="548640" y="36576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3FC1A0"/>
                </a:solidFill>
                <a:effectLst/>
                <a:uFillTx/>
                <a:latin typeface="Calibri"/>
                <a:ea typeface="Calibri"/>
              </a:rPr>
              <a:t>AI TECHNOLOGIES</a:t>
            </a:r>
            <a:endParaRPr lang="en-US" sz="1200" b="0" u="none" strike="noStrike">
              <a:solidFill>
                <a:srgbClr val="000000"/>
              </a:solidFill>
              <a:effectLst/>
              <a:uFillTx/>
              <a:latin typeface="Arial"/>
            </a:endParaRPr>
          </a:p>
        </p:txBody>
      </p:sp>
      <p:sp>
        <p:nvSpPr>
          <p:cNvPr id="156" name="Text 1"/>
          <p:cNvSpPr/>
          <p:nvPr/>
        </p:nvSpPr>
        <p:spPr>
          <a:xfrm>
            <a:off x="548640" y="68580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B2430"/>
                </a:solidFill>
                <a:effectLst/>
                <a:uFillTx/>
                <a:latin typeface="Cambria"/>
                <a:ea typeface="Cambria"/>
              </a:rPr>
              <a:t>AI as an evidence summarizer, not a decision-maker</a:t>
            </a:r>
            <a:endParaRPr lang="en-US" sz="3200" b="0" u="none" strike="noStrike">
              <a:solidFill>
                <a:srgbClr val="000000"/>
              </a:solidFill>
              <a:effectLst/>
              <a:uFillTx/>
              <a:latin typeface="Arial"/>
            </a:endParaRPr>
          </a:p>
        </p:txBody>
      </p:sp>
      <p:sp>
        <p:nvSpPr>
          <p:cNvPr id="157" name="Shape 2"/>
          <p:cNvSpPr/>
          <p:nvPr/>
        </p:nvSpPr>
        <p:spPr>
          <a:xfrm>
            <a:off x="548640" y="1783080"/>
            <a:ext cx="11063880" cy="1234080"/>
          </a:xfrm>
          <a:prstGeom prst="roundRect">
            <a:avLst>
              <a:gd name="adj" fmla="val 7407"/>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8" name="Text 3"/>
          <p:cNvSpPr/>
          <p:nvPr/>
        </p:nvSpPr>
        <p:spPr>
          <a:xfrm>
            <a:off x="822960" y="1965960"/>
            <a:ext cx="105152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99"/>
              </a:lnSpc>
              <a:tabLst>
                <a:tab pos="0" algn="l"/>
              </a:tabLst>
            </a:pPr>
            <a:r>
              <a:rPr lang="en-US" sz="1450" b="1" u="none" strike="noStrike">
                <a:solidFill>
                  <a:srgbClr val="065A82"/>
                </a:solidFill>
                <a:effectLst/>
                <a:uFillTx/>
                <a:latin typeface="Calibri"/>
                <a:ea typeface="Calibri"/>
              </a:rPr>
              <a:t>What the AI does: </a:t>
            </a:r>
            <a:r>
              <a:rPr lang="en-US" sz="1450" b="0" u="none" strike="noStrike">
                <a:solidFill>
                  <a:srgbClr val="1B2430"/>
                </a:solidFill>
                <a:effectLst/>
                <a:uFillTx/>
                <a:latin typeface="Calibri"/>
                <a:ea typeface="Calibri"/>
              </a:rPr>
              <a:t>After a trip completes, it generates a natural-language summary of the structured delivery evidence and events already recorded — condensing the timeline into something a human can read in seconds.</a:t>
            </a:r>
            <a:endParaRPr lang="en-US" sz="1450" b="0" u="none" strike="noStrike">
              <a:solidFill>
                <a:srgbClr val="000000"/>
              </a:solidFill>
              <a:effectLst/>
              <a:uFillTx/>
              <a:latin typeface="Arial"/>
            </a:endParaRPr>
          </a:p>
        </p:txBody>
      </p:sp>
      <p:sp>
        <p:nvSpPr>
          <p:cNvPr id="159" name="Shape 4"/>
          <p:cNvSpPr/>
          <p:nvPr/>
        </p:nvSpPr>
        <p:spPr>
          <a:xfrm>
            <a:off x="548640" y="3246120"/>
            <a:ext cx="3611520" cy="1828440"/>
          </a:xfrm>
          <a:prstGeom prst="roundRect">
            <a:avLst>
              <a:gd name="adj" fmla="val 4000"/>
            </a:avLst>
          </a:prstGeom>
          <a:solidFill>
            <a:srgbClr val="FFFFFF"/>
          </a:solidFill>
          <a:ln w="12700">
            <a:solidFill>
              <a:srgbClr val="E2E8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0" name="Text 5"/>
          <p:cNvSpPr/>
          <p:nvPr/>
        </p:nvSpPr>
        <p:spPr>
          <a:xfrm>
            <a:off x="822960" y="3429000"/>
            <a:ext cx="30628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spc="99">
                <a:solidFill>
                  <a:srgbClr val="1C7293"/>
                </a:solidFill>
                <a:effectLst/>
                <a:uFillTx/>
                <a:latin typeface="Calibri"/>
                <a:ea typeface="Calibri"/>
              </a:rPr>
              <a:t>INPUT</a:t>
            </a:r>
            <a:endParaRPr lang="en-US" sz="1150" b="0" u="none" strike="noStrike">
              <a:solidFill>
                <a:srgbClr val="000000"/>
              </a:solidFill>
              <a:effectLst/>
              <a:uFillTx/>
              <a:latin typeface="Arial"/>
            </a:endParaRPr>
          </a:p>
        </p:txBody>
      </p:sp>
      <p:sp>
        <p:nvSpPr>
          <p:cNvPr id="161" name="Text 6"/>
          <p:cNvSpPr/>
          <p:nvPr/>
        </p:nvSpPr>
        <p:spPr>
          <a:xfrm>
            <a:off x="822960" y="3794760"/>
            <a:ext cx="306288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tabLst>
                <a:tab pos="0" algn="l"/>
              </a:tabLst>
            </a:pPr>
            <a:r>
              <a:rPr lang="en-US" sz="1250" b="0" u="none" strike="noStrike">
                <a:solidFill>
                  <a:srgbClr val="5B6B77"/>
                </a:solidFill>
                <a:effectLst/>
                <a:uFillTx/>
                <a:latin typeface="Calibri"/>
                <a:ea typeface="Calibri"/>
              </a:rPr>
              <a:t>Structured trip events + recorded photo evidence — claim, pickup, delivery stages, receiver confirmation.</a:t>
            </a:r>
            <a:endParaRPr lang="en-US" sz="1250" b="0" u="none" strike="noStrike">
              <a:solidFill>
                <a:srgbClr val="000000"/>
              </a:solidFill>
              <a:effectLst/>
              <a:uFillTx/>
              <a:latin typeface="Arial"/>
            </a:endParaRPr>
          </a:p>
        </p:txBody>
      </p:sp>
      <p:sp>
        <p:nvSpPr>
          <p:cNvPr id="162" name="Shape 7"/>
          <p:cNvSpPr/>
          <p:nvPr/>
        </p:nvSpPr>
        <p:spPr>
          <a:xfrm>
            <a:off x="4297680" y="3246120"/>
            <a:ext cx="3611520" cy="1828440"/>
          </a:xfrm>
          <a:prstGeom prst="roundRect">
            <a:avLst>
              <a:gd name="adj" fmla="val 4000"/>
            </a:avLst>
          </a:prstGeom>
          <a:solidFill>
            <a:srgbClr val="FFFFFF"/>
          </a:solidFill>
          <a:ln w="12700">
            <a:solidFill>
              <a:srgbClr val="E2E8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3" name="Text 8"/>
          <p:cNvSpPr/>
          <p:nvPr/>
        </p:nvSpPr>
        <p:spPr>
          <a:xfrm>
            <a:off x="4572000" y="3429000"/>
            <a:ext cx="30628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spc="99">
                <a:solidFill>
                  <a:srgbClr val="1C7293"/>
                </a:solidFill>
                <a:effectLst/>
                <a:uFillTx/>
                <a:latin typeface="Calibri"/>
                <a:ea typeface="Calibri"/>
              </a:rPr>
              <a:t>TRIGGER</a:t>
            </a:r>
            <a:endParaRPr lang="en-US" sz="1150" b="0" u="none" strike="noStrike">
              <a:solidFill>
                <a:srgbClr val="000000"/>
              </a:solidFill>
              <a:effectLst/>
              <a:uFillTx/>
              <a:latin typeface="Arial"/>
            </a:endParaRPr>
          </a:p>
        </p:txBody>
      </p:sp>
      <p:sp>
        <p:nvSpPr>
          <p:cNvPr id="164" name="Text 9"/>
          <p:cNvSpPr/>
          <p:nvPr/>
        </p:nvSpPr>
        <p:spPr>
          <a:xfrm>
            <a:off x="4572000" y="3794760"/>
            <a:ext cx="306288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tabLst>
                <a:tab pos="0" algn="l"/>
              </a:tabLst>
            </a:pPr>
            <a:r>
              <a:rPr lang="en-US" sz="1250" b="0" u="none" strike="noStrike">
                <a:solidFill>
                  <a:srgbClr val="5B6B77"/>
                </a:solidFill>
                <a:effectLst/>
                <a:uFillTx/>
                <a:latin typeface="Calibri"/>
                <a:ea typeface="Calibri"/>
              </a:rPr>
              <a:t>Runs after trip completion, once the full event record exists.</a:t>
            </a:r>
            <a:endParaRPr lang="en-US" sz="1250" b="0" u="none" strike="noStrike">
              <a:solidFill>
                <a:srgbClr val="000000"/>
              </a:solidFill>
              <a:effectLst/>
              <a:uFillTx/>
              <a:latin typeface="Arial"/>
            </a:endParaRPr>
          </a:p>
        </p:txBody>
      </p:sp>
      <p:sp>
        <p:nvSpPr>
          <p:cNvPr id="165" name="Shape 10"/>
          <p:cNvSpPr/>
          <p:nvPr/>
        </p:nvSpPr>
        <p:spPr>
          <a:xfrm>
            <a:off x="8046720" y="3246120"/>
            <a:ext cx="3611520" cy="1828440"/>
          </a:xfrm>
          <a:prstGeom prst="roundRect">
            <a:avLst>
              <a:gd name="adj" fmla="val 4000"/>
            </a:avLst>
          </a:prstGeom>
          <a:solidFill>
            <a:srgbClr val="FFFFFF"/>
          </a:solidFill>
          <a:ln w="12700">
            <a:solidFill>
              <a:srgbClr val="E2E8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6" name="Text 11"/>
          <p:cNvSpPr/>
          <p:nvPr/>
        </p:nvSpPr>
        <p:spPr>
          <a:xfrm>
            <a:off x="8321040" y="3429000"/>
            <a:ext cx="30628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spc="99">
                <a:solidFill>
                  <a:srgbClr val="1C7293"/>
                </a:solidFill>
                <a:effectLst/>
                <a:uFillTx/>
                <a:latin typeface="Calibri"/>
                <a:ea typeface="Calibri"/>
              </a:rPr>
              <a:t>OUTPUT</a:t>
            </a:r>
            <a:endParaRPr lang="en-US" sz="1150" b="0" u="none" strike="noStrike">
              <a:solidFill>
                <a:srgbClr val="000000"/>
              </a:solidFill>
              <a:effectLst/>
              <a:uFillTx/>
              <a:latin typeface="Arial"/>
            </a:endParaRPr>
          </a:p>
        </p:txBody>
      </p:sp>
      <p:sp>
        <p:nvSpPr>
          <p:cNvPr id="167" name="Text 12"/>
          <p:cNvSpPr/>
          <p:nvPr/>
        </p:nvSpPr>
        <p:spPr>
          <a:xfrm>
            <a:off x="8321040" y="3794760"/>
            <a:ext cx="306288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tabLst>
                <a:tab pos="0" algn="l"/>
              </a:tabLst>
            </a:pPr>
            <a:r>
              <a:rPr lang="en-US" sz="1250" b="0" u="none" strike="noStrike">
                <a:solidFill>
                  <a:srgbClr val="5B6B77"/>
                </a:solidFill>
                <a:effectLst/>
                <a:uFillTx/>
                <a:latin typeface="Calibri"/>
                <a:ea typeface="Calibri"/>
              </a:rPr>
              <a:t>A concise, human-readable evidence summary — not a ruling or an autonomous action.</a:t>
            </a:r>
            <a:endParaRPr lang="en-US" sz="1250" b="0" u="none" strike="noStrike">
              <a:solidFill>
                <a:srgbClr val="000000"/>
              </a:solidFill>
              <a:effectLst/>
              <a:uFillTx/>
              <a:latin typeface="Arial"/>
            </a:endParaRPr>
          </a:p>
        </p:txBody>
      </p:sp>
      <p:sp>
        <p:nvSpPr>
          <p:cNvPr id="168" name="Text 13"/>
          <p:cNvSpPr/>
          <p:nvPr/>
        </p:nvSpPr>
        <p:spPr>
          <a:xfrm>
            <a:off x="548640" y="5349240"/>
            <a:ext cx="110638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99"/>
              </a:lnSpc>
              <a:tabLst>
                <a:tab pos="0" algn="l"/>
              </a:tabLst>
            </a:pPr>
            <a:r>
              <a:rPr lang="en-US" sz="1250" b="0" i="1" u="none" strike="noStrike">
                <a:solidFill>
                  <a:srgbClr val="065A82"/>
                </a:solidFill>
                <a:effectLst/>
                <a:uFillTx/>
                <a:latin typeface="Calibri"/>
                <a:ea typeface="Calibri"/>
              </a:rPr>
              <a:t>Deterministic operational logic (claiming, lifecycle transitions, access rules) remains deterministic — the AI layer sits on top, after the fact.</a:t>
            </a:r>
            <a:endParaRPr lang="en-US" sz="1250" b="0" u="none" strike="noStrike">
              <a:solidFill>
                <a:srgbClr val="000000"/>
              </a:solidFill>
              <a:effectLst/>
              <a:uFillTx/>
              <a:latin typeface="Arial"/>
            </a:endParaRPr>
          </a:p>
        </p:txBody>
      </p:sp>
      <p:sp>
        <p:nvSpPr>
          <p:cNvPr id="169" name="Text 14"/>
          <p:cNvSpPr/>
          <p:nvPr/>
        </p:nvSpPr>
        <p:spPr>
          <a:xfrm>
            <a:off x="11521440" y="6446520"/>
            <a:ext cx="548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u="none" strike="noStrike">
                <a:solidFill>
                  <a:srgbClr val="5B6B77"/>
                </a:solidFill>
                <a:effectLst/>
                <a:uFillTx/>
                <a:latin typeface="Calibri"/>
                <a:ea typeface="Calibri"/>
              </a:rPr>
              <a:t>08</a:t>
            </a:r>
            <a:endParaRPr lang="en-US" sz="10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0" name="Text 0"/>
          <p:cNvSpPr/>
          <p:nvPr/>
        </p:nvSpPr>
        <p:spPr>
          <a:xfrm>
            <a:off x="548640" y="36576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3FC1A0"/>
                </a:solidFill>
                <a:effectLst/>
                <a:uFillTx/>
                <a:latin typeface="Calibri"/>
                <a:ea typeface="Calibri"/>
              </a:rPr>
              <a:t>IMPACT &amp; VALUE</a:t>
            </a:r>
            <a:endParaRPr lang="en-US" sz="1200" b="0" u="none" strike="noStrike">
              <a:solidFill>
                <a:srgbClr val="000000"/>
              </a:solidFill>
              <a:effectLst/>
              <a:uFillTx/>
              <a:latin typeface="Arial"/>
            </a:endParaRPr>
          </a:p>
        </p:txBody>
      </p:sp>
      <p:sp>
        <p:nvSpPr>
          <p:cNvPr id="171" name="Text 1"/>
          <p:cNvSpPr/>
          <p:nvPr/>
        </p:nvSpPr>
        <p:spPr>
          <a:xfrm>
            <a:off x="548640" y="68580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B2430"/>
                </a:solidFill>
                <a:effectLst/>
                <a:uFillTx/>
                <a:latin typeface="Cambria"/>
                <a:ea typeface="Cambria"/>
              </a:rPr>
              <a:t>A clear proof layer for delivery relationships</a:t>
            </a:r>
            <a:endParaRPr lang="en-US" sz="3200" b="0" u="none" strike="noStrike">
              <a:solidFill>
                <a:srgbClr val="000000"/>
              </a:solidFill>
              <a:effectLst/>
              <a:uFillTx/>
              <a:latin typeface="Arial"/>
            </a:endParaRPr>
          </a:p>
        </p:txBody>
      </p:sp>
      <p:sp>
        <p:nvSpPr>
          <p:cNvPr id="172" name="Shape 2"/>
          <p:cNvSpPr/>
          <p:nvPr/>
        </p:nvSpPr>
        <p:spPr>
          <a:xfrm>
            <a:off x="548640" y="1828800"/>
            <a:ext cx="3611520" cy="3565800"/>
          </a:xfrm>
          <a:prstGeom prst="roundRect">
            <a:avLst>
              <a:gd name="adj" fmla="val 2564"/>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3" name="Shape 3"/>
          <p:cNvSpPr/>
          <p:nvPr/>
        </p:nvSpPr>
        <p:spPr>
          <a:xfrm>
            <a:off x="868680" y="2103120"/>
            <a:ext cx="502560" cy="502560"/>
          </a:xfrm>
          <a:prstGeom prst="ellipse">
            <a:avLst/>
          </a:prstGeom>
          <a:solidFill>
            <a:srgbClr val="065A8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4" name="Text 4"/>
          <p:cNvSpPr/>
          <p:nvPr/>
        </p:nvSpPr>
        <p:spPr>
          <a:xfrm>
            <a:off x="868680" y="2103120"/>
            <a:ext cx="5025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FFFFFF"/>
                </a:solidFill>
                <a:effectLst/>
                <a:uFillTx/>
                <a:latin typeface="Calibri"/>
                <a:ea typeface="Calibri"/>
              </a:rPr>
              <a:t>C</a:t>
            </a:r>
            <a:endParaRPr lang="en-US" sz="1650" b="0" u="none" strike="noStrike">
              <a:solidFill>
                <a:srgbClr val="000000"/>
              </a:solidFill>
              <a:effectLst/>
              <a:uFillTx/>
              <a:latin typeface="Arial"/>
            </a:endParaRPr>
          </a:p>
        </p:txBody>
      </p:sp>
      <p:sp>
        <p:nvSpPr>
          <p:cNvPr id="175" name="Text 5"/>
          <p:cNvSpPr/>
          <p:nvPr/>
        </p:nvSpPr>
        <p:spPr>
          <a:xfrm>
            <a:off x="1554480" y="2176200"/>
            <a:ext cx="2331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2430"/>
                </a:solidFill>
                <a:effectLst/>
                <a:uFillTx/>
                <a:latin typeface="Cambria"/>
                <a:ea typeface="Cambria"/>
              </a:rPr>
              <a:t>For Companies</a:t>
            </a:r>
            <a:endParaRPr lang="en-US" sz="1600" b="0" u="none" strike="noStrike">
              <a:solidFill>
                <a:srgbClr val="000000"/>
              </a:solidFill>
              <a:effectLst/>
              <a:uFillTx/>
              <a:latin typeface="Arial"/>
            </a:endParaRPr>
          </a:p>
        </p:txBody>
      </p:sp>
      <p:sp>
        <p:nvSpPr>
          <p:cNvPr id="176" name="Text 6"/>
          <p:cNvSpPr/>
          <p:nvPr/>
        </p:nvSpPr>
        <p:spPr>
          <a:xfrm>
            <a:off x="868680" y="2834640"/>
            <a:ext cx="297144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00"/>
              </a:lnSpc>
              <a:tabLst>
                <a:tab pos="0" algn="l"/>
              </a:tabLst>
            </a:pPr>
            <a:r>
              <a:rPr lang="en-US" sz="1300" b="0" u="none" strike="noStrike">
                <a:solidFill>
                  <a:srgbClr val="5B6B77"/>
                </a:solidFill>
                <a:effectLst/>
                <a:uFillTx/>
                <a:latin typeface="Calibri"/>
                <a:ea typeface="Calibri"/>
              </a:rPr>
              <a:t>Create a trip, get receiver approval, track delivery, receive completion notification, and keep a clear record.</a:t>
            </a:r>
            <a:endParaRPr lang="en-US" sz="1300" b="0" u="none" strike="noStrike">
              <a:solidFill>
                <a:srgbClr val="000000"/>
              </a:solidFill>
              <a:effectLst/>
              <a:uFillTx/>
              <a:latin typeface="Arial"/>
            </a:endParaRPr>
          </a:p>
        </p:txBody>
      </p:sp>
      <p:sp>
        <p:nvSpPr>
          <p:cNvPr id="177" name="Shape 7"/>
          <p:cNvSpPr/>
          <p:nvPr/>
        </p:nvSpPr>
        <p:spPr>
          <a:xfrm>
            <a:off x="4297680" y="1828800"/>
            <a:ext cx="3611520" cy="3565800"/>
          </a:xfrm>
          <a:prstGeom prst="roundRect">
            <a:avLst>
              <a:gd name="adj" fmla="val 2564"/>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8" name="Shape 8"/>
          <p:cNvSpPr/>
          <p:nvPr/>
        </p:nvSpPr>
        <p:spPr>
          <a:xfrm>
            <a:off x="4617720" y="2103120"/>
            <a:ext cx="502560" cy="502560"/>
          </a:xfrm>
          <a:prstGeom prst="ellipse">
            <a:avLst/>
          </a:prstGeom>
          <a:solidFill>
            <a:srgbClr val="1C729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9" name="Text 9"/>
          <p:cNvSpPr/>
          <p:nvPr/>
        </p:nvSpPr>
        <p:spPr>
          <a:xfrm>
            <a:off x="4617720" y="2103120"/>
            <a:ext cx="5025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FFFFFF"/>
                </a:solidFill>
                <a:effectLst/>
                <a:uFillTx/>
                <a:latin typeface="Calibri"/>
                <a:ea typeface="Calibri"/>
              </a:rPr>
              <a:t>D</a:t>
            </a:r>
            <a:endParaRPr lang="en-US" sz="1650" b="0" u="none" strike="noStrike">
              <a:solidFill>
                <a:srgbClr val="000000"/>
              </a:solidFill>
              <a:effectLst/>
              <a:uFillTx/>
              <a:latin typeface="Arial"/>
            </a:endParaRPr>
          </a:p>
        </p:txBody>
      </p:sp>
      <p:sp>
        <p:nvSpPr>
          <p:cNvPr id="180" name="Text 10"/>
          <p:cNvSpPr/>
          <p:nvPr/>
        </p:nvSpPr>
        <p:spPr>
          <a:xfrm>
            <a:off x="5303520" y="2176200"/>
            <a:ext cx="2331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2430"/>
                </a:solidFill>
                <a:effectLst/>
                <a:uFillTx/>
                <a:latin typeface="Cambria"/>
                <a:ea typeface="Cambria"/>
              </a:rPr>
              <a:t>For Drivers</a:t>
            </a:r>
            <a:endParaRPr lang="en-US" sz="1600" b="0" u="none" strike="noStrike">
              <a:solidFill>
                <a:srgbClr val="000000"/>
              </a:solidFill>
              <a:effectLst/>
              <a:uFillTx/>
              <a:latin typeface="Arial"/>
            </a:endParaRPr>
          </a:p>
        </p:txBody>
      </p:sp>
      <p:sp>
        <p:nvSpPr>
          <p:cNvPr id="181" name="Text 11"/>
          <p:cNvSpPr/>
          <p:nvPr/>
        </p:nvSpPr>
        <p:spPr>
          <a:xfrm>
            <a:off x="4617720" y="2834640"/>
            <a:ext cx="297144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00"/>
              </a:lnSpc>
              <a:tabLst>
                <a:tab pos="0" algn="l"/>
              </a:tabLst>
            </a:pPr>
            <a:r>
              <a:rPr lang="en-US" sz="1300" b="0" u="none" strike="noStrike">
                <a:solidFill>
                  <a:srgbClr val="5B6B77"/>
                </a:solidFill>
                <a:effectLst/>
                <a:uFillTx/>
                <a:latin typeface="Calibri"/>
                <a:ea typeface="Calibri"/>
              </a:rPr>
              <a:t>Find published delivery work, claim one trip atomically, complete the stages, and add photo evidence.</a:t>
            </a:r>
            <a:endParaRPr lang="en-US" sz="1300" b="0" u="none" strike="noStrike">
              <a:solidFill>
                <a:srgbClr val="000000"/>
              </a:solidFill>
              <a:effectLst/>
              <a:uFillTx/>
              <a:latin typeface="Arial"/>
            </a:endParaRPr>
          </a:p>
        </p:txBody>
      </p:sp>
      <p:sp>
        <p:nvSpPr>
          <p:cNvPr id="182" name="Shape 12"/>
          <p:cNvSpPr/>
          <p:nvPr/>
        </p:nvSpPr>
        <p:spPr>
          <a:xfrm>
            <a:off x="8046720" y="1828800"/>
            <a:ext cx="3611520" cy="3565800"/>
          </a:xfrm>
          <a:prstGeom prst="roundRect">
            <a:avLst>
              <a:gd name="adj" fmla="val 2564"/>
            </a:avLst>
          </a:prstGeom>
          <a:solidFill>
            <a:srgbClr val="F2F6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3" name="Shape 13"/>
          <p:cNvSpPr/>
          <p:nvPr/>
        </p:nvSpPr>
        <p:spPr>
          <a:xfrm>
            <a:off x="8366760" y="2103120"/>
            <a:ext cx="502560" cy="502560"/>
          </a:xfrm>
          <a:prstGeom prst="ellipse">
            <a:avLst/>
          </a:prstGeom>
          <a:solidFill>
            <a:srgbClr val="2129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4" name="Text 14"/>
          <p:cNvSpPr/>
          <p:nvPr/>
        </p:nvSpPr>
        <p:spPr>
          <a:xfrm>
            <a:off x="8366760" y="2103120"/>
            <a:ext cx="5025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FFFFFF"/>
                </a:solidFill>
                <a:effectLst/>
                <a:uFillTx/>
                <a:latin typeface="Calibri"/>
                <a:ea typeface="Calibri"/>
              </a:rPr>
              <a:t>N</a:t>
            </a:r>
            <a:endParaRPr lang="en-US" sz="1650" b="0" u="none" strike="noStrike">
              <a:solidFill>
                <a:srgbClr val="000000"/>
              </a:solidFill>
              <a:effectLst/>
              <a:uFillTx/>
              <a:latin typeface="Arial"/>
            </a:endParaRPr>
          </a:p>
        </p:txBody>
      </p:sp>
      <p:sp>
        <p:nvSpPr>
          <p:cNvPr id="185" name="Text 15"/>
          <p:cNvSpPr/>
          <p:nvPr/>
        </p:nvSpPr>
        <p:spPr>
          <a:xfrm>
            <a:off x="9052560" y="2176200"/>
            <a:ext cx="2331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2430"/>
                </a:solidFill>
                <a:effectLst/>
                <a:uFillTx/>
                <a:latin typeface="Cambria"/>
                <a:ea typeface="Cambria"/>
              </a:rPr>
              <a:t>For Reviewers</a:t>
            </a:r>
            <a:endParaRPr lang="en-US" sz="1600" b="0" u="none" strike="noStrike">
              <a:solidFill>
                <a:srgbClr val="000000"/>
              </a:solidFill>
              <a:effectLst/>
              <a:uFillTx/>
              <a:latin typeface="Arial"/>
            </a:endParaRPr>
          </a:p>
        </p:txBody>
      </p:sp>
      <p:sp>
        <p:nvSpPr>
          <p:cNvPr id="186" name="Text 16"/>
          <p:cNvSpPr/>
          <p:nvPr/>
        </p:nvSpPr>
        <p:spPr>
          <a:xfrm>
            <a:off x="8366760" y="2834640"/>
            <a:ext cx="297144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00"/>
              </a:lnSpc>
              <a:tabLst>
                <a:tab pos="0" algn="l"/>
              </a:tabLst>
            </a:pPr>
            <a:r>
              <a:rPr lang="en-US" sz="1300" b="0" u="none" strike="noStrike">
                <a:solidFill>
                  <a:srgbClr val="5B6B77"/>
                </a:solidFill>
                <a:effectLst/>
                <a:uFillTx/>
                <a:latin typeface="Calibri"/>
                <a:ea typeface="Calibri"/>
              </a:rPr>
              <a:t>Verify driver/company eligibility from submitted evidence — with no access to trips or delivery activity.</a:t>
            </a:r>
            <a:endParaRPr lang="en-US" sz="1300" b="0" u="none" strike="noStrike">
              <a:solidFill>
                <a:srgbClr val="000000"/>
              </a:solidFill>
              <a:effectLst/>
              <a:uFillTx/>
              <a:latin typeface="Arial"/>
            </a:endParaRPr>
          </a:p>
        </p:txBody>
      </p:sp>
      <p:sp>
        <p:nvSpPr>
          <p:cNvPr id="187" name="Text 17"/>
          <p:cNvSpPr/>
          <p:nvPr/>
        </p:nvSpPr>
        <p:spPr>
          <a:xfrm>
            <a:off x="548640" y="5623560"/>
            <a:ext cx="110638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99"/>
              </a:lnSpc>
              <a:tabLst>
                <a:tab pos="0" algn="l"/>
              </a:tabLst>
            </a:pPr>
            <a:r>
              <a:rPr lang="en-US" sz="1200" b="0" i="1" u="none" strike="noStrike">
                <a:solidFill>
                  <a:srgbClr val="5B6B77"/>
                </a:solidFill>
                <a:effectLst/>
                <a:uFillTx/>
                <a:latin typeface="Calibri"/>
                <a:ea typeface="Calibri"/>
              </a:rPr>
              <a:t>DeliveryProof makes delivery activity easier to verify and disputes easier to investigate — without claiming to eliminate every dispute or replace a full TMS/ELD/ePOD stack.</a:t>
            </a:r>
            <a:endParaRPr lang="en-US" sz="1200" b="0" u="none" strike="noStrike">
              <a:solidFill>
                <a:srgbClr val="000000"/>
              </a:solidFill>
              <a:effectLst/>
              <a:uFillTx/>
              <a:latin typeface="Arial"/>
            </a:endParaRPr>
          </a:p>
        </p:txBody>
      </p:sp>
      <p:sp>
        <p:nvSpPr>
          <p:cNvPr id="188" name="Text 18"/>
          <p:cNvSpPr/>
          <p:nvPr/>
        </p:nvSpPr>
        <p:spPr>
          <a:xfrm>
            <a:off x="11521440" y="6446520"/>
            <a:ext cx="548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u="none" strike="noStrike">
                <a:solidFill>
                  <a:srgbClr val="5B6B77"/>
                </a:solidFill>
                <a:effectLst/>
                <a:uFillTx/>
                <a:latin typeface="Calibri"/>
                <a:ea typeface="Calibri"/>
              </a:rPr>
              <a:t>09</a:t>
            </a:r>
            <a:endParaRPr lang="en-US" sz="10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189" name="Text 0"/>
          <p:cNvSpPr/>
          <p:nvPr/>
        </p:nvSpPr>
        <p:spPr>
          <a:xfrm>
            <a:off x="548640" y="36576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3FC1A0"/>
                </a:solidFill>
                <a:effectLst/>
                <a:uFillTx/>
                <a:latin typeface="Calibri"/>
                <a:ea typeface="Calibri"/>
              </a:rPr>
              <a:t>WRAP UP</a:t>
            </a:r>
            <a:endParaRPr lang="en-US" sz="1200" b="0" u="none" strike="noStrike">
              <a:solidFill>
                <a:srgbClr val="FFFFFF"/>
              </a:solidFill>
              <a:effectLst/>
              <a:uFillTx/>
              <a:latin typeface="Arial"/>
            </a:endParaRPr>
          </a:p>
        </p:txBody>
      </p:sp>
      <p:sp>
        <p:nvSpPr>
          <p:cNvPr id="190" name="Text 1"/>
          <p:cNvSpPr/>
          <p:nvPr/>
        </p:nvSpPr>
        <p:spPr>
          <a:xfrm>
            <a:off x="548640" y="68580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FFFFFF"/>
                </a:solidFill>
                <a:effectLst/>
                <a:uFillTx/>
                <a:latin typeface="Cambria"/>
                <a:ea typeface="Cambria"/>
              </a:rPr>
              <a:t>Judge Quick Start &amp; Future Roadmap</a:t>
            </a:r>
            <a:endParaRPr lang="en-US" sz="3200" b="0" u="none" strike="noStrike">
              <a:solidFill>
                <a:srgbClr val="FFFFFF"/>
              </a:solidFill>
              <a:effectLst/>
              <a:uFillTx/>
              <a:latin typeface="Arial"/>
            </a:endParaRPr>
          </a:p>
        </p:txBody>
      </p:sp>
      <p:sp>
        <p:nvSpPr>
          <p:cNvPr id="191" name="Shape 2"/>
          <p:cNvSpPr/>
          <p:nvPr/>
        </p:nvSpPr>
        <p:spPr>
          <a:xfrm>
            <a:off x="548640" y="1783080"/>
            <a:ext cx="5394600" cy="4205880"/>
          </a:xfrm>
          <a:prstGeom prst="roundRect">
            <a:avLst>
              <a:gd name="adj" fmla="val 2174"/>
            </a:avLst>
          </a:prstGeom>
          <a:solidFill>
            <a:srgbClr val="2C376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2" name="Text 3"/>
          <p:cNvSpPr/>
          <p:nvPr/>
        </p:nvSpPr>
        <p:spPr>
          <a:xfrm>
            <a:off x="868680" y="2011680"/>
            <a:ext cx="47545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3FC1A0"/>
                </a:solidFill>
                <a:effectLst/>
                <a:uFillTx/>
                <a:latin typeface="Calibri"/>
                <a:ea typeface="Calibri"/>
              </a:rPr>
              <a:t>JUDGE QUICK START</a:t>
            </a:r>
            <a:endParaRPr lang="en-US" sz="1200" b="0" u="none" strike="noStrike">
              <a:solidFill>
                <a:srgbClr val="FFFFFF"/>
              </a:solidFill>
              <a:effectLst/>
              <a:uFillTx/>
              <a:latin typeface="Arial"/>
            </a:endParaRPr>
          </a:p>
        </p:txBody>
      </p:sp>
      <p:sp>
        <p:nvSpPr>
          <p:cNvPr id="193" name="Text 4"/>
          <p:cNvSpPr/>
          <p:nvPr/>
        </p:nvSpPr>
        <p:spPr>
          <a:xfrm>
            <a:off x="868680" y="2468880"/>
            <a:ext cx="475452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t>1.  Reviewer verifies driver/company identity from submitted evidence.</a:t>
            </a:r>
          </a:p>
          <a:p>
            <a:r>
              <a:t>2.  Company creates a trip and selects a different receiving company.</a:t>
            </a:r>
          </a:p>
          <a:p>
            <a:r>
              <a:t>3.  Receiver accepts — only then is the trip published to drivers.</a:t>
            </a:r>
          </a:p>
          <a:p>
            <a:r>
              <a:t>4.  Driver claims atomically — one active trip at a time; delivery stages advance with driver/receiver confirmation and photo evidence.</a:t>
            </a:r>
          </a:p>
          <a:p>
            <a:r>
              <a:t>5.  Driver + receiver confirm completion → sender is notified and the AI summary is generated.</a:t>
            </a:r>
          </a:p>
        </p:txBody>
      </p:sp>
      <p:sp>
        <p:nvSpPr>
          <p:cNvPr id="194" name="Text 5"/>
          <p:cNvSpPr/>
          <p:nvPr/>
        </p:nvSpPr>
        <p:spPr>
          <a:xfrm>
            <a:off x="868680" y="5669280"/>
            <a:ext cx="47545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i="1" u="none" strike="noStrike">
                <a:solidFill>
                  <a:srgbClr val="8FA3C9"/>
                </a:solidFill>
                <a:effectLst/>
                <a:uFillTx/>
                <a:latin typeface="Calibri"/>
                <a:ea typeface="Calibri"/>
              </a:rPr>
              <a:t>Demo credentials shared at final submission.</a:t>
            </a:r>
            <a:endParaRPr lang="en-US" sz="1050" b="0" u="none" strike="noStrike">
              <a:solidFill>
                <a:srgbClr val="FFFFFF"/>
              </a:solidFill>
              <a:effectLst/>
              <a:uFillTx/>
              <a:latin typeface="Arial"/>
            </a:endParaRPr>
          </a:p>
        </p:txBody>
      </p:sp>
      <p:sp>
        <p:nvSpPr>
          <p:cNvPr id="195" name="Shape 6"/>
          <p:cNvSpPr/>
          <p:nvPr/>
        </p:nvSpPr>
        <p:spPr>
          <a:xfrm>
            <a:off x="6217920" y="1783080"/>
            <a:ext cx="5394600" cy="4205880"/>
          </a:xfrm>
          <a:prstGeom prst="roundRect">
            <a:avLst>
              <a:gd name="adj" fmla="val 2174"/>
            </a:avLst>
          </a:prstGeom>
          <a:solidFill>
            <a:srgbClr val="2C376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6" name="Text 7"/>
          <p:cNvSpPr/>
          <p:nvPr/>
        </p:nvSpPr>
        <p:spPr>
          <a:xfrm>
            <a:off x="6537960" y="2011680"/>
            <a:ext cx="47545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3FC1A0"/>
                </a:solidFill>
                <a:effectLst/>
                <a:uFillTx/>
                <a:latin typeface="Calibri"/>
                <a:ea typeface="Calibri"/>
              </a:rPr>
              <a:t>FUTURE ROADMAP</a:t>
            </a:r>
            <a:endParaRPr lang="en-US" sz="1200" b="0" u="none" strike="noStrike">
              <a:solidFill>
                <a:srgbClr val="FFFFFF"/>
              </a:solidFill>
              <a:effectLst/>
              <a:uFillTx/>
              <a:latin typeface="Arial"/>
            </a:endParaRPr>
          </a:p>
        </p:txBody>
      </p:sp>
      <p:sp>
        <p:nvSpPr>
          <p:cNvPr id="197" name="Text 8"/>
          <p:cNvSpPr/>
          <p:nvPr/>
        </p:nvSpPr>
        <p:spPr>
          <a:xfrm>
            <a:off x="6537960" y="2468880"/>
            <a:ext cx="475452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2599"/>
              </a:lnSpc>
              <a:tabLst>
                <a:tab pos="0" algn="l"/>
              </a:tabLst>
            </a:pPr>
            <a:r>
              <a:rPr lang="en-US" sz="1350" b="0" u="none" strike="noStrike">
                <a:solidFill>
                  <a:srgbClr val="E3E9F5"/>
                </a:solidFill>
                <a:effectLst/>
                <a:uFillTx/>
                <a:latin typeface="Calibri"/>
                <a:ea typeface="Calibri"/>
              </a:rPr>
              <a:t>▸  Expand AI evidence summaries with richer supporting detail.</a:t>
            </a:r>
            <a:endParaRPr lang="en-US" sz="1350" b="0" u="none" strike="noStrike">
              <a:solidFill>
                <a:srgbClr val="FFFFFF"/>
              </a:solidFill>
              <a:effectLst/>
              <a:uFillTx/>
              <a:latin typeface="Arial"/>
            </a:endParaRPr>
          </a:p>
          <a:p>
            <a:pPr defTabSz="914400">
              <a:lnSpc>
                <a:spcPts val="2599"/>
              </a:lnSpc>
              <a:tabLst>
                <a:tab pos="0" algn="l"/>
              </a:tabLst>
            </a:pPr>
            <a:r>
              <a:rPr lang="en-US" sz="1350" b="0" u="none" strike="noStrike">
                <a:solidFill>
                  <a:srgbClr val="E3E9F5"/>
                </a:solidFill>
                <a:effectLst/>
                <a:uFillTx/>
                <a:latin typeface="Calibri"/>
                <a:ea typeface="Calibri"/>
              </a:rPr>
              <a:t>▸  Expand identity verification coverage as requirements evolve.</a:t>
            </a:r>
            <a:endParaRPr lang="en-US" sz="1350" b="0" u="none" strike="noStrike">
              <a:solidFill>
                <a:srgbClr val="FFFFFF"/>
              </a:solidFill>
              <a:effectLst/>
              <a:uFillTx/>
              <a:latin typeface="Arial"/>
            </a:endParaRPr>
          </a:p>
          <a:p>
            <a:pPr defTabSz="914400">
              <a:lnSpc>
                <a:spcPts val="2599"/>
              </a:lnSpc>
              <a:tabLst>
                <a:tab pos="0" algn="l"/>
              </a:tabLst>
            </a:pPr>
            <a:r>
              <a:rPr lang="en-US" sz="1350" b="0" u="none" strike="noStrike">
                <a:solidFill>
                  <a:srgbClr val="E3E9F5"/>
                </a:solidFill>
                <a:effectLst/>
                <a:uFillTx/>
                <a:latin typeface="Calibri"/>
                <a:ea typeface="Calibri"/>
              </a:rPr>
              <a:t>▸  Extend public shareable evidence for external stakeholders.</a:t>
            </a:r>
            <a:endParaRPr lang="en-US" sz="1350" b="0" u="none" strike="noStrike">
              <a:solidFill>
                <a:srgbClr val="FFFFFF"/>
              </a:solidFill>
              <a:effectLst/>
              <a:uFillTx/>
              <a:latin typeface="Arial"/>
            </a:endParaRPr>
          </a:p>
          <a:p>
            <a:pPr defTabSz="914400">
              <a:lnSpc>
                <a:spcPts val="2599"/>
              </a:lnSpc>
              <a:tabLst>
                <a:tab pos="0" algn="l"/>
              </a:tabLst>
            </a:pPr>
            <a:r>
              <a:rPr lang="en-US" sz="1350" b="0" u="none" strike="noStrike">
                <a:solidFill>
                  <a:srgbClr val="E3E9F5"/>
                </a:solidFill>
                <a:effectLst/>
                <a:uFillTx/>
                <a:latin typeface="Calibri"/>
                <a:ea typeface="Calibri"/>
              </a:rPr>
              <a:t>▸  Continue hardening the delivery lifecycle based on real usage.</a:t>
            </a:r>
            <a:endParaRPr lang="en-US" sz="1350" b="0" u="none" strike="noStrike">
              <a:solidFill>
                <a:srgbClr val="FFFFFF"/>
              </a:solidFill>
              <a:effectLst/>
              <a:uFillTx/>
              <a:latin typeface="Arial"/>
            </a:endParaRPr>
          </a:p>
        </p:txBody>
      </p:sp>
      <p:sp>
        <p:nvSpPr>
          <p:cNvPr id="198" name="Text 9"/>
          <p:cNvSpPr/>
          <p:nvPr/>
        </p:nvSpPr>
        <p:spPr>
          <a:xfrm>
            <a:off x="6537960" y="5669280"/>
            <a:ext cx="47545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i="1" u="none" strike="noStrike">
                <a:solidFill>
                  <a:srgbClr val="8FA3C9"/>
                </a:solidFill>
                <a:effectLst/>
                <a:uFillTx/>
                <a:latin typeface="Calibri"/>
                <a:ea typeface="Calibri"/>
              </a:rPr>
              <a:t>Roadmap reflects only items in current scope.</a:t>
            </a:r>
            <a:endParaRPr lang="en-US" sz="1050" b="0" u="none" strike="noStrike">
              <a:solidFill>
                <a:srgbClr val="FFFFFF"/>
              </a:solidFill>
              <a:effectLst/>
              <a:uFillTx/>
              <a:latin typeface="Arial"/>
            </a:endParaRPr>
          </a:p>
        </p:txBody>
      </p:sp>
      <p:sp>
        <p:nvSpPr>
          <p:cNvPr id="199" name="Text 10"/>
          <p:cNvSpPr/>
          <p:nvPr/>
        </p:nvSpPr>
        <p:spPr>
          <a:xfrm>
            <a:off x="548640" y="626364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FFFFFF"/>
                </a:solidFill>
                <a:effectLst/>
                <a:uFillTx/>
                <a:latin typeface="Cambria"/>
                <a:ea typeface="Cambria"/>
              </a:rPr>
              <a:t>Thank you — DeliveryProof</a:t>
            </a:r>
            <a:endParaRPr lang="en-US" sz="1400" b="0" u="none" strike="noStrike">
              <a:solidFill>
                <a:srgbClr val="FFFFFF"/>
              </a:solidFill>
              <a:effectLst/>
              <a:uFillTx/>
              <a:latin typeface="Arial"/>
            </a:endParaRPr>
          </a:p>
        </p:txBody>
      </p:sp>
      <p:sp>
        <p:nvSpPr>
          <p:cNvPr id="200" name="Text 11"/>
          <p:cNvSpPr/>
          <p:nvPr/>
        </p:nvSpPr>
        <p:spPr>
          <a:xfrm>
            <a:off x="11521440" y="6446520"/>
            <a:ext cx="548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u="none" strike="noStrike">
                <a:solidFill>
                  <a:srgbClr val="5B6B77"/>
                </a:solidFill>
                <a:effectLst/>
                <a:uFillTx/>
                <a:latin typeface="Calibri"/>
                <a:ea typeface="Calibri"/>
              </a:rPr>
              <a:t>10</a:t>
            </a:r>
            <a:endParaRPr lang="en-US" sz="1000" b="0" u="none" strike="noStrike">
              <a:solidFill>
                <a:srgbClr val="FFFFFF"/>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1110</Words>
  <Application>Microsoft Office PowerPoint</Application>
  <PresentationFormat>Widescreen</PresentationFormat>
  <Paragraphs>146</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Cambria</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Ayush Halpati</cp:lastModifiedBy>
  <cp:revision>1</cp:revision>
  <dcterms:modified xsi:type="dcterms:W3CDTF">2026-09-12T16:33:44Z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2026-09-12T09:04:24Z</dcterms:created>
  <dc:creator>PptxGenJS</dc:creator>
  <dc:description/>
  <dc:language>en-US</dc:language>
  <cp:lastModifiedBy>PptxGenJS</cp:lastModifiedBy>
  <dcterms:modified xsi:type="dcterms:W3CDTF">2026-09-12T09:04:24Z</dcterms:modified>
  <cp:revision>1</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10</vt:r8>
  </property>
  <property fmtid="{D5CDD505-2E9C-101B-9397-08002B2CF9AE}" pid="3" name="PresentationFormat">
    <vt:lpwstr>On-screen Show (16:9)</vt:lpwstr>
  </property>
  <property fmtid="{D5CDD505-2E9C-101B-9397-08002B2CF9AE}" pid="4" name="Slides">
    <vt:r8>10</vt:r8>
  </property>
</Properties>
</file>